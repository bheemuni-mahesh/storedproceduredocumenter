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9" r:id="rId10"/>
    <p:sldId id="265" r:id="rId11"/>
    <p:sldId id="268" r:id="rId12"/>
    <p:sldId id="262" r:id="rId13"/>
    <p:sldId id="266" r:id="rId14"/>
    <p:sldId id="267" r:id="rId15"/>
    <p:sldId id="270" r:id="rId16"/>
    <p:sldId id="271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17161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17161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17161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17161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2757" y="-42886"/>
            <a:ext cx="7724418" cy="2008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17161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4316" y="3265243"/>
            <a:ext cx="17199366" cy="375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eemuni-Mahesh/StoredProcedureDocumenter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ql-procedure-documenter.streamlit.app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5143500"/>
            <a:ext cx="16602074" cy="45148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6000" y="2099712"/>
            <a:ext cx="4674235" cy="21774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5610"/>
              </a:lnSpc>
              <a:spcBef>
                <a:spcPts val="310"/>
              </a:spcBef>
            </a:pPr>
            <a:r>
              <a:rPr sz="4750" b="1" spc="170" dirty="0">
                <a:solidFill>
                  <a:srgbClr val="171616"/>
                </a:solidFill>
                <a:latin typeface="Tahoma"/>
                <a:cs typeface="Tahoma"/>
              </a:rPr>
              <a:t>STORED </a:t>
            </a:r>
            <a:r>
              <a:rPr sz="4750" b="1" spc="229" dirty="0">
                <a:solidFill>
                  <a:srgbClr val="171616"/>
                </a:solidFill>
                <a:latin typeface="Tahoma"/>
                <a:cs typeface="Tahoma"/>
              </a:rPr>
              <a:t>PROCEDURE </a:t>
            </a:r>
            <a:r>
              <a:rPr sz="4750" b="1" spc="220" dirty="0">
                <a:solidFill>
                  <a:srgbClr val="171616"/>
                </a:solidFill>
                <a:latin typeface="Tahoma"/>
                <a:cs typeface="Tahoma"/>
              </a:rPr>
              <a:t>DOCUMENTER</a:t>
            </a:r>
            <a:endParaRPr sz="47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04539" y="1124494"/>
            <a:ext cx="516953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100"/>
              </a:lnSpc>
              <a:spcBef>
                <a:spcPts val="100"/>
              </a:spcBef>
            </a:pPr>
            <a:r>
              <a:rPr sz="1900" spc="-120" dirty="0">
                <a:solidFill>
                  <a:srgbClr val="171616"/>
                </a:solidFill>
                <a:latin typeface="Arial Black"/>
                <a:cs typeface="Arial Black"/>
              </a:rPr>
              <a:t>AI-</a:t>
            </a:r>
            <a:r>
              <a:rPr sz="1900" spc="-140" dirty="0">
                <a:solidFill>
                  <a:srgbClr val="171616"/>
                </a:solidFill>
                <a:latin typeface="Arial Black"/>
                <a:cs typeface="Arial Black"/>
              </a:rPr>
              <a:t>Powered</a:t>
            </a:r>
            <a:r>
              <a:rPr sz="1900" spc="-2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310" dirty="0">
                <a:solidFill>
                  <a:srgbClr val="171616"/>
                </a:solidFill>
                <a:latin typeface="Arial Black"/>
                <a:cs typeface="Arial Black"/>
              </a:rPr>
              <a:t>SQL</a:t>
            </a:r>
            <a:r>
              <a:rPr sz="1900" spc="15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90" dirty="0">
                <a:solidFill>
                  <a:srgbClr val="171616"/>
                </a:solidFill>
                <a:latin typeface="Arial Black"/>
                <a:cs typeface="Arial Black"/>
              </a:rPr>
              <a:t>Documentation</a:t>
            </a:r>
            <a:r>
              <a:rPr sz="1900" spc="-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60" dirty="0">
                <a:solidFill>
                  <a:srgbClr val="171616"/>
                </a:solidFill>
                <a:latin typeface="Arial Black"/>
                <a:cs typeface="Arial Black"/>
              </a:rPr>
              <a:t>Generator </a:t>
            </a:r>
            <a:r>
              <a:rPr sz="1900" spc="-105" dirty="0">
                <a:solidFill>
                  <a:srgbClr val="171616"/>
                </a:solidFill>
                <a:latin typeface="Arial Black"/>
                <a:cs typeface="Arial Black"/>
              </a:rPr>
              <a:t>Submitted</a:t>
            </a:r>
            <a:r>
              <a:rPr sz="1900" spc="-5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245" dirty="0">
                <a:solidFill>
                  <a:srgbClr val="171616"/>
                </a:solidFill>
                <a:latin typeface="Arial Black"/>
                <a:cs typeface="Arial Black"/>
              </a:rPr>
              <a:t>To:</a:t>
            </a:r>
            <a:r>
              <a:rPr sz="1900" spc="8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70" dirty="0">
                <a:solidFill>
                  <a:srgbClr val="171616"/>
                </a:solidFill>
                <a:latin typeface="Arial Black"/>
                <a:cs typeface="Arial Black"/>
              </a:rPr>
              <a:t>Infinite</a:t>
            </a:r>
            <a:r>
              <a:rPr sz="1900" spc="-3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00" dirty="0">
                <a:solidFill>
                  <a:srgbClr val="171616"/>
                </a:solidFill>
                <a:latin typeface="Arial Black"/>
                <a:cs typeface="Arial Black"/>
              </a:rPr>
              <a:t>Computer</a:t>
            </a:r>
            <a:r>
              <a:rPr sz="19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171616"/>
                </a:solidFill>
                <a:latin typeface="Arial Black"/>
                <a:cs typeface="Arial Black"/>
              </a:rPr>
              <a:t>Solutions </a:t>
            </a:r>
            <a:r>
              <a:rPr sz="1900" spc="-114" dirty="0">
                <a:solidFill>
                  <a:srgbClr val="171616"/>
                </a:solidFill>
                <a:latin typeface="Arial Black"/>
                <a:cs typeface="Arial Black"/>
              </a:rPr>
              <a:t>Presented</a:t>
            </a:r>
            <a:r>
              <a:rPr sz="1900" spc="-12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40" dirty="0">
                <a:solidFill>
                  <a:srgbClr val="171616"/>
                </a:solidFill>
                <a:latin typeface="Arial Black"/>
                <a:cs typeface="Arial Black"/>
              </a:rPr>
              <a:t>By:</a:t>
            </a:r>
            <a:r>
              <a:rPr sz="1900" spc="-12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60" dirty="0">
                <a:solidFill>
                  <a:srgbClr val="171616"/>
                </a:solidFill>
                <a:latin typeface="Arial Black"/>
                <a:cs typeface="Arial Black"/>
              </a:rPr>
              <a:t>Team</a:t>
            </a:r>
            <a:r>
              <a:rPr sz="1900" spc="-12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25" dirty="0">
                <a:solidFill>
                  <a:srgbClr val="171616"/>
                </a:solidFill>
                <a:latin typeface="Arial Black"/>
                <a:cs typeface="Arial Black"/>
              </a:rPr>
              <a:t>19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868569"/>
            <a:ext cx="99441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Page</a:t>
            </a:r>
            <a:r>
              <a:rPr sz="18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Lucida Sans Unicode"/>
                <a:cs typeface="Lucida Sans Unicode"/>
              </a:rPr>
              <a:t>001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08129" y="1028700"/>
            <a:ext cx="15780385" cy="0"/>
          </a:xfrm>
          <a:custGeom>
            <a:avLst/>
            <a:gdLst/>
            <a:ahLst/>
            <a:cxnLst/>
            <a:rect l="l" t="t" r="r" b="b"/>
            <a:pathLst>
              <a:path w="15780385">
                <a:moveTo>
                  <a:pt x="0" y="0"/>
                </a:moveTo>
                <a:lnTo>
                  <a:pt x="15779869" y="0"/>
                </a:lnTo>
              </a:path>
            </a:pathLst>
          </a:custGeom>
          <a:ln w="9524">
            <a:solidFill>
              <a:srgbClr val="17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491083" y="2688710"/>
            <a:ext cx="4346575" cy="17487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95"/>
              </a:spcBef>
              <a:tabLst>
                <a:tab pos="984250" algn="l"/>
                <a:tab pos="1616710" algn="l"/>
                <a:tab pos="2056130" algn="l"/>
              </a:tabLst>
            </a:pPr>
            <a:r>
              <a:rPr sz="1600" spc="-229" dirty="0">
                <a:solidFill>
                  <a:srgbClr val="171616"/>
                </a:solidFill>
                <a:latin typeface="Arial Black"/>
                <a:cs typeface="Arial Black"/>
              </a:rPr>
              <a:t>T</a:t>
            </a:r>
            <a:r>
              <a:rPr sz="1600" spc="4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00" spc="-265" dirty="0">
                <a:solidFill>
                  <a:srgbClr val="171616"/>
                </a:solidFill>
                <a:latin typeface="Arial Black"/>
                <a:cs typeface="Arial Black"/>
              </a:rPr>
              <a:t>E</a:t>
            </a:r>
            <a:r>
              <a:rPr sz="1600" spc="4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71616"/>
                </a:solidFill>
                <a:latin typeface="Arial Black"/>
                <a:cs typeface="Arial Black"/>
              </a:rPr>
              <a:t>A</a:t>
            </a:r>
            <a:r>
              <a:rPr sz="1600" spc="-10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00" spc="-60" dirty="0">
                <a:solidFill>
                  <a:srgbClr val="171616"/>
                </a:solidFill>
                <a:latin typeface="Arial Black"/>
                <a:cs typeface="Arial Black"/>
              </a:rPr>
              <a:t>M</a:t>
            </a:r>
            <a:r>
              <a:rPr sz="1600" dirty="0">
                <a:solidFill>
                  <a:srgbClr val="171616"/>
                </a:solidFill>
                <a:latin typeface="Arial Black"/>
                <a:cs typeface="Arial Black"/>
              </a:rPr>
              <a:t>	1</a:t>
            </a:r>
            <a:r>
              <a:rPr sz="1600" spc="-114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00" spc="-50" dirty="0">
                <a:solidFill>
                  <a:srgbClr val="171616"/>
                </a:solidFill>
                <a:latin typeface="Arial Black"/>
                <a:cs typeface="Arial Black"/>
              </a:rPr>
              <a:t>9</a:t>
            </a:r>
            <a:r>
              <a:rPr sz="1600" dirty="0">
                <a:solidFill>
                  <a:srgbClr val="171616"/>
                </a:solidFill>
                <a:latin typeface="Arial Black"/>
                <a:cs typeface="Arial Black"/>
              </a:rPr>
              <a:t>	</a:t>
            </a:r>
            <a:r>
              <a:rPr sz="1600" spc="375" dirty="0">
                <a:solidFill>
                  <a:srgbClr val="171616"/>
                </a:solidFill>
                <a:latin typeface="Arial Black"/>
                <a:cs typeface="Arial Black"/>
              </a:rPr>
              <a:t>|</a:t>
            </a:r>
            <a:r>
              <a:rPr sz="1600" dirty="0">
                <a:solidFill>
                  <a:srgbClr val="171616"/>
                </a:solidFill>
                <a:latin typeface="Arial Black"/>
                <a:cs typeface="Arial Black"/>
              </a:rPr>
              <a:t>	D</a:t>
            </a:r>
            <a:r>
              <a:rPr sz="1600" spc="-7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71616"/>
                </a:solidFill>
                <a:latin typeface="Arial Black"/>
                <a:cs typeface="Arial Black"/>
              </a:rPr>
              <a:t>I</a:t>
            </a:r>
            <a:r>
              <a:rPr sz="1600" spc="-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00" spc="-265" dirty="0">
                <a:solidFill>
                  <a:srgbClr val="171616"/>
                </a:solidFill>
                <a:latin typeface="Arial Black"/>
                <a:cs typeface="Arial Black"/>
              </a:rPr>
              <a:t>E</a:t>
            </a:r>
            <a:r>
              <a:rPr sz="1600" spc="4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00" spc="-50" dirty="0">
                <a:solidFill>
                  <a:srgbClr val="171616"/>
                </a:solidFill>
                <a:latin typeface="Arial Black"/>
                <a:cs typeface="Arial Black"/>
              </a:rPr>
              <a:t>T</a:t>
            </a:r>
            <a:endParaRPr sz="1600">
              <a:latin typeface="Arial Black"/>
              <a:cs typeface="Arial Black"/>
            </a:endParaRPr>
          </a:p>
          <a:p>
            <a:pPr marL="12700" marR="5080" algn="ctr">
              <a:lnSpc>
                <a:spcPct val="114599"/>
              </a:lnSpc>
              <a:spcBef>
                <a:spcPts val="1750"/>
              </a:spcBef>
            </a:pPr>
            <a:r>
              <a:rPr sz="1800" spc="-80" dirty="0">
                <a:latin typeface="Arial Black"/>
                <a:cs typeface="Arial Black"/>
              </a:rPr>
              <a:t>Murapaka</a:t>
            </a:r>
            <a:r>
              <a:rPr sz="1800" spc="-100" dirty="0">
                <a:latin typeface="Arial Black"/>
                <a:cs typeface="Arial Black"/>
              </a:rPr>
              <a:t> </a:t>
            </a:r>
            <a:r>
              <a:rPr sz="1800" spc="-120" dirty="0">
                <a:latin typeface="Arial Black"/>
                <a:cs typeface="Arial Black"/>
              </a:rPr>
              <a:t>Venkata</a:t>
            </a:r>
            <a:r>
              <a:rPr sz="1800" spc="-95" dirty="0">
                <a:latin typeface="Arial Black"/>
                <a:cs typeface="Arial Black"/>
              </a:rPr>
              <a:t> </a:t>
            </a:r>
            <a:r>
              <a:rPr sz="1800" spc="-105" dirty="0">
                <a:latin typeface="Arial Black"/>
                <a:cs typeface="Arial Black"/>
              </a:rPr>
              <a:t>Daya</a:t>
            </a:r>
            <a:r>
              <a:rPr sz="1800" spc="-100" dirty="0">
                <a:latin typeface="Arial Black"/>
                <a:cs typeface="Arial Black"/>
              </a:rPr>
              <a:t> </a:t>
            </a:r>
            <a:r>
              <a:rPr sz="1800" spc="-155" dirty="0">
                <a:latin typeface="Arial Black"/>
                <a:cs typeface="Arial Black"/>
              </a:rPr>
              <a:t>(24U45A0233 </a:t>
            </a:r>
            <a:r>
              <a:rPr sz="1800" spc="-90" dirty="0">
                <a:latin typeface="Arial Black"/>
                <a:cs typeface="Arial Black"/>
              </a:rPr>
              <a:t>Bheemuni</a:t>
            </a:r>
            <a:r>
              <a:rPr sz="1800" spc="-100" dirty="0">
                <a:latin typeface="Arial Black"/>
                <a:cs typeface="Arial Black"/>
              </a:rPr>
              <a:t> Mahesh</a:t>
            </a:r>
            <a:r>
              <a:rPr sz="1800" spc="-95" dirty="0">
                <a:latin typeface="Arial Black"/>
                <a:cs typeface="Arial Black"/>
              </a:rPr>
              <a:t> </a:t>
            </a:r>
            <a:r>
              <a:rPr sz="1800" spc="-80" dirty="0">
                <a:latin typeface="Arial Black"/>
                <a:cs typeface="Arial Black"/>
              </a:rPr>
              <a:t>(23U41A0508) </a:t>
            </a:r>
            <a:r>
              <a:rPr sz="1800" spc="-65" dirty="0">
                <a:latin typeface="Arial Black"/>
                <a:cs typeface="Arial Black"/>
              </a:rPr>
              <a:t>Nammi</a:t>
            </a:r>
            <a:r>
              <a:rPr sz="1800" spc="-120" dirty="0">
                <a:latin typeface="Arial Black"/>
                <a:cs typeface="Arial Black"/>
              </a:rPr>
              <a:t> </a:t>
            </a:r>
            <a:r>
              <a:rPr sz="1800" spc="-135" dirty="0">
                <a:latin typeface="Arial Black"/>
                <a:cs typeface="Arial Black"/>
              </a:rPr>
              <a:t>Lokesh</a:t>
            </a:r>
            <a:r>
              <a:rPr sz="1800" spc="-114" dirty="0">
                <a:latin typeface="Arial Black"/>
                <a:cs typeface="Arial Black"/>
              </a:rPr>
              <a:t> </a:t>
            </a:r>
            <a:r>
              <a:rPr sz="1800" spc="-85" dirty="0">
                <a:latin typeface="Arial Black"/>
                <a:cs typeface="Arial Black"/>
              </a:rPr>
              <a:t>(24U45A0421) </a:t>
            </a:r>
            <a:r>
              <a:rPr sz="1800" spc="-95" dirty="0">
                <a:latin typeface="Arial Black"/>
                <a:cs typeface="Arial Black"/>
              </a:rPr>
              <a:t>Donkada</a:t>
            </a:r>
            <a:r>
              <a:rPr sz="1800" spc="-100" dirty="0">
                <a:latin typeface="Arial Black"/>
                <a:cs typeface="Arial Black"/>
              </a:rPr>
              <a:t> </a:t>
            </a:r>
            <a:r>
              <a:rPr sz="1800" spc="-105" dirty="0">
                <a:latin typeface="Arial Black"/>
                <a:cs typeface="Arial Black"/>
              </a:rPr>
              <a:t>Yamini</a:t>
            </a:r>
            <a:r>
              <a:rPr sz="1800" spc="-100" dirty="0">
                <a:latin typeface="Arial Black"/>
                <a:cs typeface="Arial Black"/>
              </a:rPr>
              <a:t> </a:t>
            </a:r>
            <a:r>
              <a:rPr sz="1800" spc="-75" dirty="0">
                <a:latin typeface="Arial Black"/>
                <a:cs typeface="Arial Black"/>
              </a:rPr>
              <a:t>(23U41A4218)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5940" y="8214012"/>
            <a:ext cx="939800" cy="6540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Team</a:t>
            </a:r>
            <a:r>
              <a:rPr sz="18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19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2026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52717" y="869316"/>
            <a:ext cx="91757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Page</a:t>
            </a:r>
            <a:r>
              <a:rPr sz="165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171616"/>
                </a:solidFill>
                <a:latin typeface="Lucida Sans Unicode"/>
                <a:cs typeface="Lucida Sans Unicode"/>
              </a:rPr>
              <a:t>002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981072" y="1023937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6926" y="0"/>
                </a:lnTo>
              </a:path>
            </a:pathLst>
          </a:custGeom>
          <a:ln w="9524">
            <a:solidFill>
              <a:srgbClr val="17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649020"/>
            <a:ext cx="7334249" cy="3562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50364" y="2110097"/>
            <a:ext cx="4133849" cy="81724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0561" y="8941752"/>
            <a:ext cx="32181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0" dirty="0">
                <a:solidFill>
                  <a:srgbClr val="171616"/>
                </a:solidFill>
                <a:latin typeface="Arial Black"/>
                <a:cs typeface="Arial Black"/>
              </a:rPr>
              <a:t>Stored</a:t>
            </a:r>
            <a:r>
              <a:rPr sz="1650" spc="-8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50" spc="-100" dirty="0">
                <a:solidFill>
                  <a:srgbClr val="171616"/>
                </a:solidFill>
                <a:latin typeface="Arial Black"/>
                <a:cs typeface="Arial Black"/>
              </a:rPr>
              <a:t>Procedure</a:t>
            </a:r>
            <a:r>
              <a:rPr sz="1650" spc="-8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650" spc="-55" dirty="0">
                <a:solidFill>
                  <a:srgbClr val="171616"/>
                </a:solidFill>
                <a:latin typeface="Arial Black"/>
                <a:cs typeface="Arial Black"/>
              </a:rPr>
              <a:t>Documenter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2493" y="2061830"/>
            <a:ext cx="5273040" cy="19869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7650"/>
              </a:lnSpc>
              <a:spcBef>
                <a:spcPts val="340"/>
              </a:spcBef>
            </a:pPr>
            <a:r>
              <a:rPr sz="6500" b="1" spc="315" dirty="0">
                <a:solidFill>
                  <a:srgbClr val="171616"/>
                </a:solidFill>
                <a:latin typeface="Tahoma"/>
                <a:cs typeface="Tahoma"/>
              </a:rPr>
              <a:t>PROBLEM </a:t>
            </a:r>
            <a:r>
              <a:rPr sz="6500" b="1" spc="185" dirty="0">
                <a:solidFill>
                  <a:srgbClr val="171616"/>
                </a:solidFill>
                <a:latin typeface="Tahoma"/>
                <a:cs typeface="Tahoma"/>
              </a:rPr>
              <a:t>STATEMENT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78762" y="2110096"/>
            <a:ext cx="350520" cy="350520"/>
          </a:xfrm>
          <a:custGeom>
            <a:avLst/>
            <a:gdLst/>
            <a:ahLst/>
            <a:cxnLst/>
            <a:rect l="l" t="t" r="r" b="b"/>
            <a:pathLst>
              <a:path w="350520" h="350519">
                <a:moveTo>
                  <a:pt x="350061" y="350061"/>
                </a:moveTo>
                <a:lnTo>
                  <a:pt x="0" y="350061"/>
                </a:lnTo>
                <a:lnTo>
                  <a:pt x="0" y="0"/>
                </a:lnTo>
                <a:lnTo>
                  <a:pt x="350061" y="0"/>
                </a:lnTo>
                <a:lnTo>
                  <a:pt x="350061" y="350061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140106" y="1996408"/>
            <a:ext cx="440626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b="0" spc="-114" dirty="0">
                <a:latin typeface="Arial Black"/>
                <a:cs typeface="Arial Black"/>
              </a:rPr>
              <a:t>Stored</a:t>
            </a:r>
            <a:r>
              <a:rPr sz="1800" b="0" spc="-105" dirty="0">
                <a:latin typeface="Arial Black"/>
                <a:cs typeface="Arial Black"/>
              </a:rPr>
              <a:t> </a:t>
            </a:r>
            <a:r>
              <a:rPr sz="1800" b="0" spc="-110" dirty="0">
                <a:latin typeface="Arial Black"/>
                <a:cs typeface="Arial Black"/>
              </a:rPr>
              <a:t>procedures</a:t>
            </a:r>
            <a:r>
              <a:rPr sz="1800" b="0" spc="-105" dirty="0">
                <a:latin typeface="Arial Black"/>
                <a:cs typeface="Arial Black"/>
              </a:rPr>
              <a:t> </a:t>
            </a:r>
            <a:r>
              <a:rPr sz="1800" b="0" spc="-90" dirty="0">
                <a:latin typeface="Arial Black"/>
                <a:cs typeface="Arial Black"/>
              </a:rPr>
              <a:t>are</a:t>
            </a:r>
            <a:r>
              <a:rPr sz="1800" b="0" spc="-100" dirty="0">
                <a:latin typeface="Arial Black"/>
                <a:cs typeface="Arial Black"/>
              </a:rPr>
              <a:t> </a:t>
            </a:r>
            <a:r>
              <a:rPr sz="1800" b="0" spc="-20" dirty="0">
                <a:latin typeface="Arial Black"/>
                <a:cs typeface="Arial Black"/>
              </a:rPr>
              <a:t>often </a:t>
            </a:r>
            <a:r>
              <a:rPr sz="1800" b="0" spc="-90" dirty="0">
                <a:latin typeface="Arial Black"/>
                <a:cs typeface="Arial Black"/>
              </a:rPr>
              <a:t>undocumented,</a:t>
            </a:r>
            <a:r>
              <a:rPr sz="1800" b="0" spc="-100" dirty="0">
                <a:latin typeface="Arial Black"/>
                <a:cs typeface="Arial Black"/>
              </a:rPr>
              <a:t> </a:t>
            </a:r>
            <a:r>
              <a:rPr sz="1800" b="0" spc="-105" dirty="0">
                <a:latin typeface="Arial Black"/>
                <a:cs typeface="Arial Black"/>
              </a:rPr>
              <a:t>leaving</a:t>
            </a:r>
            <a:r>
              <a:rPr sz="1800" b="0" spc="-100" dirty="0">
                <a:latin typeface="Arial Black"/>
                <a:cs typeface="Arial Black"/>
              </a:rPr>
              <a:t> </a:t>
            </a:r>
            <a:r>
              <a:rPr sz="1800" b="0" spc="-114" dirty="0">
                <a:latin typeface="Arial Black"/>
                <a:cs typeface="Arial Black"/>
              </a:rPr>
              <a:t>teams</a:t>
            </a:r>
            <a:r>
              <a:rPr sz="1800" b="0" spc="-100" dirty="0">
                <a:latin typeface="Arial Black"/>
                <a:cs typeface="Arial Black"/>
              </a:rPr>
              <a:t> </a:t>
            </a:r>
            <a:r>
              <a:rPr sz="1800" b="0" spc="-75" dirty="0">
                <a:latin typeface="Arial Black"/>
                <a:cs typeface="Arial Black"/>
              </a:rPr>
              <a:t>with</a:t>
            </a:r>
            <a:r>
              <a:rPr sz="1800" b="0" spc="-100" dirty="0">
                <a:latin typeface="Arial Black"/>
                <a:cs typeface="Arial Black"/>
              </a:rPr>
              <a:t> </a:t>
            </a:r>
            <a:r>
              <a:rPr sz="1800" b="0" spc="-25" dirty="0">
                <a:latin typeface="Arial Black"/>
                <a:cs typeface="Arial Black"/>
              </a:rPr>
              <a:t>no </a:t>
            </a:r>
            <a:r>
              <a:rPr sz="1800" b="0" spc="-105" dirty="0">
                <a:latin typeface="Arial Black"/>
                <a:cs typeface="Arial Black"/>
              </a:rPr>
              <a:t>reference</a:t>
            </a:r>
            <a:r>
              <a:rPr sz="1800" b="0" spc="-100" dirty="0">
                <a:latin typeface="Arial Black"/>
                <a:cs typeface="Arial Black"/>
              </a:rPr>
              <a:t> </a:t>
            </a:r>
            <a:r>
              <a:rPr sz="1800" b="0" spc="-35" dirty="0">
                <a:latin typeface="Arial Black"/>
                <a:cs typeface="Arial Black"/>
              </a:rPr>
              <a:t>for</a:t>
            </a:r>
            <a:r>
              <a:rPr sz="1800" b="0" spc="-90" dirty="0">
                <a:latin typeface="Arial Black"/>
                <a:cs typeface="Arial Black"/>
              </a:rPr>
              <a:t> </a:t>
            </a:r>
            <a:r>
              <a:rPr sz="1800" b="0" spc="-85" dirty="0">
                <a:latin typeface="Arial Black"/>
                <a:cs typeface="Arial Black"/>
              </a:rPr>
              <a:t>understanding </a:t>
            </a:r>
            <a:r>
              <a:rPr sz="1800" b="0" spc="-10" dirty="0">
                <a:latin typeface="Arial Black"/>
                <a:cs typeface="Arial Black"/>
              </a:rPr>
              <a:t>complex </a:t>
            </a:r>
            <a:r>
              <a:rPr sz="1800" b="0" spc="-120" dirty="0">
                <a:latin typeface="Arial Black"/>
                <a:cs typeface="Arial Black"/>
              </a:rPr>
              <a:t>database</a:t>
            </a:r>
            <a:r>
              <a:rPr sz="1800" b="0" spc="-95" dirty="0">
                <a:latin typeface="Arial Black"/>
                <a:cs typeface="Arial Black"/>
              </a:rPr>
              <a:t> </a:t>
            </a:r>
            <a:r>
              <a:rPr sz="1800" b="0" spc="-10" dirty="0">
                <a:latin typeface="Arial Black"/>
                <a:cs typeface="Arial Black"/>
              </a:rPr>
              <a:t>logic.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78762" y="3965979"/>
            <a:ext cx="350520" cy="350520"/>
          </a:xfrm>
          <a:custGeom>
            <a:avLst/>
            <a:gdLst/>
            <a:ahLst/>
            <a:cxnLst/>
            <a:rect l="l" t="t" r="r" b="b"/>
            <a:pathLst>
              <a:path w="350520" h="350520">
                <a:moveTo>
                  <a:pt x="350061" y="350061"/>
                </a:moveTo>
                <a:lnTo>
                  <a:pt x="0" y="350061"/>
                </a:lnTo>
                <a:lnTo>
                  <a:pt x="0" y="0"/>
                </a:lnTo>
                <a:lnTo>
                  <a:pt x="350061" y="0"/>
                </a:lnTo>
                <a:lnTo>
                  <a:pt x="350061" y="350061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40106" y="3853309"/>
            <a:ext cx="4312920" cy="2823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5110">
              <a:lnSpc>
                <a:spcPct val="114599"/>
              </a:lnSpc>
              <a:spcBef>
                <a:spcPts val="100"/>
              </a:spcBef>
            </a:pPr>
            <a:r>
              <a:rPr sz="1800" spc="-125" dirty="0">
                <a:solidFill>
                  <a:srgbClr val="171616"/>
                </a:solidFill>
                <a:latin typeface="Arial Black"/>
                <a:cs typeface="Arial Black"/>
              </a:rPr>
              <a:t>New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10" dirty="0">
                <a:solidFill>
                  <a:srgbClr val="171616"/>
                </a:solidFill>
                <a:latin typeface="Arial Black"/>
                <a:cs typeface="Arial Black"/>
              </a:rPr>
              <a:t>developers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14" dirty="0">
                <a:solidFill>
                  <a:srgbClr val="171616"/>
                </a:solidFill>
                <a:latin typeface="Arial Black"/>
                <a:cs typeface="Arial Black"/>
              </a:rPr>
              <a:t>struggle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171616"/>
                </a:solidFill>
                <a:latin typeface="Arial Black"/>
                <a:cs typeface="Arial Black"/>
              </a:rPr>
              <a:t>to 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understand</a:t>
            </a:r>
            <a:r>
              <a:rPr sz="1800" spc="-8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20" dirty="0">
                <a:solidFill>
                  <a:srgbClr val="171616"/>
                </a:solidFill>
                <a:latin typeface="Arial Black"/>
                <a:cs typeface="Arial Black"/>
              </a:rPr>
              <a:t>existing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20" dirty="0">
                <a:solidFill>
                  <a:srgbClr val="171616"/>
                </a:solidFill>
                <a:latin typeface="Arial Black"/>
                <a:cs typeface="Arial Black"/>
              </a:rPr>
              <a:t>database</a:t>
            </a:r>
            <a:r>
              <a:rPr sz="1800" spc="-8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logic, </a:t>
            </a:r>
            <a:r>
              <a:rPr sz="1800" spc="-140" dirty="0">
                <a:solidFill>
                  <a:srgbClr val="171616"/>
                </a:solidFill>
                <a:latin typeface="Arial Black"/>
                <a:cs typeface="Arial Black"/>
              </a:rPr>
              <a:t>causing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20" dirty="0">
                <a:solidFill>
                  <a:srgbClr val="171616"/>
                </a:solidFill>
                <a:latin typeface="Arial Black"/>
                <a:cs typeface="Arial Black"/>
              </a:rPr>
              <a:t>delays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50" dirty="0">
                <a:solidFill>
                  <a:srgbClr val="171616"/>
                </a:solidFill>
                <a:latin typeface="Arial Black"/>
                <a:cs typeface="Arial Black"/>
              </a:rPr>
              <a:t>in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171616"/>
                </a:solidFill>
                <a:latin typeface="Arial Black"/>
                <a:cs typeface="Arial Black"/>
              </a:rPr>
              <a:t>onboarding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171616"/>
                </a:solidFill>
                <a:latin typeface="Arial Black"/>
                <a:cs typeface="Arial Black"/>
              </a:rPr>
              <a:t>and </a:t>
            </a:r>
            <a:r>
              <a:rPr sz="1800" spc="-105" dirty="0">
                <a:solidFill>
                  <a:srgbClr val="171616"/>
                </a:solidFill>
                <a:latin typeface="Arial Black"/>
                <a:cs typeface="Arial Black"/>
              </a:rPr>
              <a:t>project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delivery.</a:t>
            </a: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165"/>
              </a:spcBef>
            </a:pP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14599"/>
              </a:lnSpc>
            </a:pPr>
            <a:r>
              <a:rPr sz="1800" spc="-70" dirty="0">
                <a:solidFill>
                  <a:srgbClr val="171616"/>
                </a:solidFill>
                <a:latin typeface="Arial Black"/>
                <a:cs typeface="Arial Black"/>
              </a:rPr>
              <a:t>Manual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documentation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35" dirty="0">
                <a:solidFill>
                  <a:srgbClr val="171616"/>
                </a:solidFill>
                <a:latin typeface="Arial Black"/>
                <a:cs typeface="Arial Black"/>
              </a:rPr>
              <a:t>is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time-</a:t>
            </a:r>
            <a:r>
              <a:rPr sz="1800" spc="-114" dirty="0">
                <a:solidFill>
                  <a:srgbClr val="171616"/>
                </a:solidFill>
                <a:latin typeface="Arial Black"/>
                <a:cs typeface="Arial Black"/>
              </a:rPr>
              <a:t>consuming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and</a:t>
            </a:r>
            <a:r>
              <a:rPr sz="1800" spc="-8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50" dirty="0">
                <a:solidFill>
                  <a:srgbClr val="171616"/>
                </a:solidFill>
                <a:latin typeface="Arial Black"/>
                <a:cs typeface="Arial Black"/>
              </a:rPr>
              <a:t>error-</a:t>
            </a:r>
            <a:r>
              <a:rPr sz="1800" spc="-75" dirty="0">
                <a:solidFill>
                  <a:srgbClr val="171616"/>
                </a:solidFill>
                <a:latin typeface="Arial Black"/>
                <a:cs typeface="Arial Black"/>
              </a:rPr>
              <a:t>prone,</a:t>
            </a:r>
            <a:r>
              <a:rPr sz="1800" spc="-8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50" dirty="0">
                <a:solidFill>
                  <a:srgbClr val="171616"/>
                </a:solidFill>
                <a:latin typeface="Arial Black"/>
                <a:cs typeface="Arial Black"/>
              </a:rPr>
              <a:t>diverting 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developer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55" dirty="0">
                <a:solidFill>
                  <a:srgbClr val="171616"/>
                </a:solidFill>
                <a:latin typeface="Arial Black"/>
                <a:cs typeface="Arial Black"/>
              </a:rPr>
              <a:t>effort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40" dirty="0">
                <a:solidFill>
                  <a:srgbClr val="171616"/>
                </a:solidFill>
                <a:latin typeface="Arial Black"/>
                <a:cs typeface="Arial Black"/>
              </a:rPr>
              <a:t>from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35" dirty="0">
                <a:solidFill>
                  <a:srgbClr val="171616"/>
                </a:solidFill>
                <a:latin typeface="Arial Black"/>
                <a:cs typeface="Arial Black"/>
              </a:rPr>
              <a:t>core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tasks.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78762" y="5821861"/>
            <a:ext cx="350520" cy="350520"/>
          </a:xfrm>
          <a:custGeom>
            <a:avLst/>
            <a:gdLst/>
            <a:ahLst/>
            <a:cxnLst/>
            <a:rect l="l" t="t" r="r" b="b"/>
            <a:pathLst>
              <a:path w="350520" h="350520">
                <a:moveTo>
                  <a:pt x="350061" y="350061"/>
                </a:moveTo>
                <a:lnTo>
                  <a:pt x="0" y="350061"/>
                </a:lnTo>
                <a:lnTo>
                  <a:pt x="0" y="0"/>
                </a:lnTo>
                <a:lnTo>
                  <a:pt x="350061" y="0"/>
                </a:lnTo>
                <a:lnTo>
                  <a:pt x="350061" y="350061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78762" y="7677744"/>
            <a:ext cx="350520" cy="350520"/>
          </a:xfrm>
          <a:custGeom>
            <a:avLst/>
            <a:gdLst/>
            <a:ahLst/>
            <a:cxnLst/>
            <a:rect l="l" t="t" r="r" b="b"/>
            <a:pathLst>
              <a:path w="350520" h="350520">
                <a:moveTo>
                  <a:pt x="350061" y="350061"/>
                </a:moveTo>
                <a:lnTo>
                  <a:pt x="0" y="350061"/>
                </a:lnTo>
                <a:lnTo>
                  <a:pt x="0" y="0"/>
                </a:lnTo>
                <a:lnTo>
                  <a:pt x="350061" y="0"/>
                </a:lnTo>
                <a:lnTo>
                  <a:pt x="350061" y="350061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31300" y="7355937"/>
            <a:ext cx="370586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114" dirty="0">
                <a:solidFill>
                  <a:srgbClr val="171616"/>
                </a:solidFill>
                <a:latin typeface="Arial Black"/>
                <a:cs typeface="Arial Black"/>
              </a:rPr>
              <a:t>Critical</a:t>
            </a:r>
            <a:r>
              <a:rPr sz="1800" spc="-10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20" dirty="0">
                <a:solidFill>
                  <a:srgbClr val="171616"/>
                </a:solidFill>
                <a:latin typeface="Arial Black"/>
                <a:cs typeface="Arial Black"/>
              </a:rPr>
              <a:t>knowledge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 remains </a:t>
            </a:r>
            <a:r>
              <a:rPr sz="1800" spc="-20" dirty="0">
                <a:solidFill>
                  <a:srgbClr val="171616"/>
                </a:solidFill>
                <a:latin typeface="Arial Black"/>
                <a:cs typeface="Arial Black"/>
              </a:rPr>
              <a:t>with 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senior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10" dirty="0">
                <a:solidFill>
                  <a:srgbClr val="171616"/>
                </a:solidFill>
                <a:latin typeface="Arial Black"/>
                <a:cs typeface="Arial Black"/>
              </a:rPr>
              <a:t>developers,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making 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maintenance 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and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debugging </a:t>
            </a:r>
            <a:r>
              <a:rPr sz="1800" spc="-110" dirty="0">
                <a:solidFill>
                  <a:srgbClr val="171616"/>
                </a:solidFill>
                <a:latin typeface="Arial Black"/>
                <a:cs typeface="Arial Black"/>
              </a:rPr>
              <a:t>increasingly</a:t>
            </a:r>
            <a:r>
              <a:rPr sz="1800" spc="-8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difficult.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81072" y="1023937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6926" y="0"/>
                </a:lnTo>
              </a:path>
            </a:pathLst>
          </a:custGeom>
          <a:ln w="9524">
            <a:solidFill>
              <a:srgbClr val="17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554" y="68580"/>
            <a:ext cx="5965410" cy="102184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324749" y="3919590"/>
            <a:ext cx="10963275" cy="4849495"/>
          </a:xfrm>
          <a:custGeom>
            <a:avLst/>
            <a:gdLst/>
            <a:ahLst/>
            <a:cxnLst/>
            <a:rect l="l" t="t" r="r" b="b"/>
            <a:pathLst>
              <a:path w="10963275" h="4849495">
                <a:moveTo>
                  <a:pt x="10963249" y="4849414"/>
                </a:moveTo>
                <a:lnTo>
                  <a:pt x="0" y="4849414"/>
                </a:lnTo>
                <a:lnTo>
                  <a:pt x="0" y="0"/>
                </a:lnTo>
                <a:lnTo>
                  <a:pt x="10963249" y="0"/>
                </a:lnTo>
                <a:lnTo>
                  <a:pt x="10963249" y="4849414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752717" y="868457"/>
            <a:ext cx="9950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Page</a:t>
            </a:r>
            <a:r>
              <a:rPr sz="18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Lucida Sans Unicode"/>
                <a:cs typeface="Lucida Sans Unicode"/>
              </a:rPr>
              <a:t>004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0561" y="8900775"/>
            <a:ext cx="110807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0504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8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ent</a:t>
            </a:r>
            <a:r>
              <a:rPr sz="1800" spc="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ti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Design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312049" y="2255371"/>
            <a:ext cx="923226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PROJECT</a:t>
            </a:r>
            <a:r>
              <a:rPr spc="5" dirty="0"/>
              <a:t> </a:t>
            </a:r>
            <a:r>
              <a:rPr spc="215" dirty="0"/>
              <a:t>OBJECTIVE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57652" y="5224292"/>
            <a:ext cx="3198495" cy="276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100"/>
              </a:spcBef>
            </a:pPr>
            <a:r>
              <a:rPr sz="2300" spc="-30" dirty="0">
                <a:solidFill>
                  <a:srgbClr val="FFFFFF"/>
                </a:solidFill>
                <a:latin typeface="Arial Black"/>
                <a:cs typeface="Arial Black"/>
              </a:rPr>
              <a:t>Objective</a:t>
            </a:r>
            <a:endParaRPr sz="2300">
              <a:latin typeface="Arial Black"/>
              <a:cs typeface="Arial Black"/>
            </a:endParaRPr>
          </a:p>
          <a:p>
            <a:pPr marL="12700" marR="5080">
              <a:lnSpc>
                <a:spcPct val="114599"/>
              </a:lnSpc>
              <a:spcBef>
                <a:spcPts val="1470"/>
              </a:spcBef>
            </a:pPr>
            <a:r>
              <a:rPr sz="1800" spc="-190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develop 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an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AI-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powered 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system</a:t>
            </a:r>
            <a:r>
              <a:rPr sz="18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 Black"/>
                <a:cs typeface="Arial Black"/>
              </a:rPr>
              <a:t>that</a:t>
            </a:r>
            <a:r>
              <a:rPr sz="18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automatically </a:t>
            </a:r>
            <a:r>
              <a:rPr sz="1800" spc="-120" dirty="0">
                <a:solidFill>
                  <a:srgbClr val="FFFFFF"/>
                </a:solidFill>
                <a:latin typeface="Arial Black"/>
                <a:cs typeface="Arial Black"/>
              </a:rPr>
              <a:t>analyzes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00" dirty="0">
                <a:solidFill>
                  <a:srgbClr val="FFFFFF"/>
                </a:solidFill>
                <a:latin typeface="Arial Black"/>
                <a:cs typeface="Arial Black"/>
              </a:rPr>
              <a:t>SQL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stored 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procedures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generates 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structured,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readable </a:t>
            </a:r>
            <a:r>
              <a:rPr sz="1800" spc="-80" dirty="0">
                <a:solidFill>
                  <a:srgbClr val="FFFFFF"/>
                </a:solidFill>
                <a:latin typeface="Arial Black"/>
                <a:cs typeface="Arial Black"/>
              </a:rPr>
              <a:t>Markdown</a:t>
            </a: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documentation 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with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Arial Black"/>
                <a:cs typeface="Arial Black"/>
              </a:rPr>
              <a:t>minimal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 Black"/>
                <a:cs typeface="Arial Black"/>
              </a:rPr>
              <a:t>human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Arial Black"/>
                <a:cs typeface="Arial Black"/>
              </a:rPr>
              <a:t>effort.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07240" y="5219181"/>
            <a:ext cx="331533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sz="2200" spc="-229" dirty="0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Black"/>
                <a:cs typeface="Arial Black"/>
              </a:rPr>
              <a:t>Goals</a:t>
            </a:r>
            <a:endParaRPr sz="2200">
              <a:latin typeface="Arial Black"/>
              <a:cs typeface="Arial Black"/>
            </a:endParaRPr>
          </a:p>
          <a:p>
            <a:pPr marL="12700" marR="5080">
              <a:lnSpc>
                <a:spcPct val="115100"/>
              </a:lnSpc>
              <a:spcBef>
                <a:spcPts val="1055"/>
              </a:spcBef>
            </a:pPr>
            <a:r>
              <a:rPr sz="1900" spc="-90" dirty="0">
                <a:solidFill>
                  <a:srgbClr val="FFFFFF"/>
                </a:solidFill>
                <a:latin typeface="Arial Black"/>
                <a:cs typeface="Arial Black"/>
              </a:rPr>
              <a:t>Automate</a:t>
            </a:r>
            <a:r>
              <a:rPr sz="19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204" dirty="0">
                <a:solidFill>
                  <a:srgbClr val="FFFFFF"/>
                </a:solidFill>
                <a:latin typeface="Arial Black"/>
                <a:cs typeface="Arial Black"/>
              </a:rPr>
              <a:t>SQL</a:t>
            </a:r>
            <a:r>
              <a:rPr sz="19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25" dirty="0">
                <a:solidFill>
                  <a:srgbClr val="FFFFFF"/>
                </a:solidFill>
                <a:latin typeface="Arial Black"/>
                <a:cs typeface="Arial Black"/>
              </a:rPr>
              <a:t>analysis</a:t>
            </a:r>
            <a:r>
              <a:rPr sz="19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Arial Black"/>
                <a:cs typeface="Arial Black"/>
              </a:rPr>
              <a:t>and </a:t>
            </a:r>
            <a:r>
              <a:rPr sz="1900" spc="-90" dirty="0">
                <a:solidFill>
                  <a:srgbClr val="FFFFFF"/>
                </a:solidFill>
                <a:latin typeface="Arial Black"/>
                <a:cs typeface="Arial Black"/>
              </a:rPr>
              <a:t>documentation.</a:t>
            </a:r>
            <a:r>
              <a:rPr sz="19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Black"/>
                <a:cs typeface="Arial Black"/>
              </a:rPr>
              <a:t>Reduce </a:t>
            </a:r>
            <a:r>
              <a:rPr sz="1900" spc="-80" dirty="0">
                <a:solidFill>
                  <a:srgbClr val="FFFFFF"/>
                </a:solidFill>
                <a:latin typeface="Arial Black"/>
                <a:cs typeface="Arial Black"/>
              </a:rPr>
              <a:t>onboarding</a:t>
            </a:r>
            <a:r>
              <a:rPr sz="19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75" dirty="0">
                <a:solidFill>
                  <a:srgbClr val="FFFFFF"/>
                </a:solidFill>
                <a:latin typeface="Arial Black"/>
                <a:cs typeface="Arial Black"/>
              </a:rPr>
              <a:t>time</a:t>
            </a:r>
            <a:r>
              <a:rPr sz="19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sz="19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Arial Black"/>
                <a:cs typeface="Arial Black"/>
              </a:rPr>
              <a:t>new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developers.</a:t>
            </a:r>
            <a:r>
              <a:rPr sz="19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Black"/>
                <a:cs typeface="Arial Black"/>
              </a:rPr>
              <a:t>Eliminate </a:t>
            </a:r>
            <a:r>
              <a:rPr sz="1900" spc="-120" dirty="0">
                <a:solidFill>
                  <a:srgbClr val="FFFFFF"/>
                </a:solidFill>
                <a:latin typeface="Arial Black"/>
                <a:cs typeface="Arial Black"/>
              </a:rPr>
              <a:t>dependency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Arial Black"/>
                <a:cs typeface="Arial Black"/>
              </a:rPr>
              <a:t>on</a:t>
            </a:r>
            <a:r>
              <a:rPr sz="19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Black"/>
                <a:cs typeface="Arial Black"/>
              </a:rPr>
              <a:t>manual </a:t>
            </a:r>
            <a:r>
              <a:rPr sz="1900" spc="-90" dirty="0">
                <a:solidFill>
                  <a:srgbClr val="FFFFFF"/>
                </a:solidFill>
                <a:latin typeface="Arial Black"/>
                <a:cs typeface="Arial Black"/>
              </a:rPr>
              <a:t>documentation</a:t>
            </a:r>
            <a:r>
              <a:rPr sz="1900" spc="-50" dirty="0">
                <a:solidFill>
                  <a:srgbClr val="FFFFFF"/>
                </a:solidFill>
                <a:latin typeface="Arial Black"/>
                <a:cs typeface="Arial Black"/>
              </a:rPr>
              <a:t> processes.</a:t>
            </a:r>
            <a:endParaRPr sz="1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895"/>
            <a:ext cx="18288000" cy="5143500"/>
            <a:chOff x="0" y="9895"/>
            <a:chExt cx="18288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895"/>
              <a:ext cx="18287999" cy="5143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981072" y="1023937"/>
              <a:ext cx="1307465" cy="0"/>
            </a:xfrm>
            <a:custGeom>
              <a:avLst/>
              <a:gdLst/>
              <a:ahLst/>
              <a:cxnLst/>
              <a:rect l="l" t="t" r="r" b="b"/>
              <a:pathLst>
                <a:path w="1307465">
                  <a:moveTo>
                    <a:pt x="0" y="0"/>
                  </a:moveTo>
                  <a:lnTo>
                    <a:pt x="1306926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9834524" y="6333766"/>
            <a:ext cx="350520" cy="350520"/>
          </a:xfrm>
          <a:custGeom>
            <a:avLst/>
            <a:gdLst/>
            <a:ahLst/>
            <a:cxnLst/>
            <a:rect l="l" t="t" r="r" b="b"/>
            <a:pathLst>
              <a:path w="350520" h="350520">
                <a:moveTo>
                  <a:pt x="350061" y="350061"/>
                </a:moveTo>
                <a:lnTo>
                  <a:pt x="0" y="350061"/>
                </a:lnTo>
                <a:lnTo>
                  <a:pt x="0" y="0"/>
                </a:lnTo>
                <a:lnTo>
                  <a:pt x="350061" y="0"/>
                </a:lnTo>
                <a:lnTo>
                  <a:pt x="350061" y="350061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85492" y="6333766"/>
            <a:ext cx="350520" cy="350520"/>
          </a:xfrm>
          <a:custGeom>
            <a:avLst/>
            <a:gdLst/>
            <a:ahLst/>
            <a:cxnLst/>
            <a:rect l="l" t="t" r="r" b="b"/>
            <a:pathLst>
              <a:path w="350519" h="350520">
                <a:moveTo>
                  <a:pt x="350061" y="350061"/>
                </a:moveTo>
                <a:lnTo>
                  <a:pt x="0" y="350061"/>
                </a:lnTo>
                <a:lnTo>
                  <a:pt x="0" y="0"/>
                </a:lnTo>
                <a:lnTo>
                  <a:pt x="350061" y="0"/>
                </a:lnTo>
                <a:lnTo>
                  <a:pt x="350061" y="350061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752717" y="865032"/>
            <a:ext cx="89789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16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003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561" y="8898493"/>
            <a:ext cx="1710055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95"/>
              </a:spcBef>
            </a:pPr>
            <a:r>
              <a:rPr sz="1600" dirty="0">
                <a:solidFill>
                  <a:srgbClr val="171616"/>
                </a:solidFill>
                <a:latin typeface="Lucida Sans Unicode"/>
                <a:cs typeface="Lucida Sans Unicode"/>
              </a:rPr>
              <a:t>Stored</a:t>
            </a:r>
            <a:r>
              <a:rPr sz="1600" spc="-12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Procedure Documenter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95655">
              <a:lnSpc>
                <a:spcPct val="100000"/>
              </a:lnSpc>
              <a:spcBef>
                <a:spcPts val="130"/>
              </a:spcBef>
            </a:pPr>
            <a:r>
              <a:rPr sz="5400" spc="220" dirty="0">
                <a:solidFill>
                  <a:srgbClr val="FFFFFF"/>
                </a:solidFill>
              </a:rPr>
              <a:t>THE</a:t>
            </a:r>
            <a:r>
              <a:rPr sz="5400" dirty="0">
                <a:solidFill>
                  <a:srgbClr val="FFFFFF"/>
                </a:solidFill>
              </a:rPr>
              <a:t> </a:t>
            </a:r>
            <a:r>
              <a:rPr sz="5400" spc="265" dirty="0">
                <a:solidFill>
                  <a:srgbClr val="FFFFFF"/>
                </a:solidFill>
              </a:rPr>
              <a:t>NEED</a:t>
            </a:r>
            <a:endParaRPr sz="5400"/>
          </a:p>
        </p:txBody>
      </p:sp>
      <p:sp>
        <p:nvSpPr>
          <p:cNvPr id="10" name="object 10"/>
          <p:cNvSpPr txBox="1"/>
          <p:nvPr/>
        </p:nvSpPr>
        <p:spPr>
          <a:xfrm>
            <a:off x="10495869" y="6264527"/>
            <a:ext cx="6222365" cy="169100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900" spc="-155" dirty="0">
                <a:solidFill>
                  <a:srgbClr val="171616"/>
                </a:solidFill>
                <a:latin typeface="Arial Black"/>
                <a:cs typeface="Arial Black"/>
              </a:rPr>
              <a:t>The</a:t>
            </a:r>
            <a:r>
              <a:rPr sz="1900" spc="-114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90" dirty="0">
                <a:solidFill>
                  <a:srgbClr val="171616"/>
                </a:solidFill>
                <a:latin typeface="Arial Black"/>
                <a:cs typeface="Arial Black"/>
              </a:rPr>
              <a:t>Solution</a:t>
            </a:r>
            <a:r>
              <a:rPr sz="1900" spc="-114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171616"/>
                </a:solidFill>
                <a:latin typeface="Arial Black"/>
                <a:cs typeface="Arial Black"/>
              </a:rPr>
              <a:t>Need:</a:t>
            </a:r>
            <a:endParaRPr sz="190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</a:pPr>
            <a:r>
              <a:rPr sz="1900" spc="-90" dirty="0">
                <a:solidFill>
                  <a:srgbClr val="171616"/>
                </a:solidFill>
                <a:latin typeface="Arial Black"/>
                <a:cs typeface="Arial Black"/>
              </a:rPr>
              <a:t>An</a:t>
            </a:r>
            <a:r>
              <a:rPr sz="1900" spc="-12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75" dirty="0">
                <a:solidFill>
                  <a:srgbClr val="171616"/>
                </a:solidFill>
                <a:latin typeface="Arial Black"/>
                <a:cs typeface="Arial Black"/>
              </a:rPr>
              <a:t>automated</a:t>
            </a:r>
            <a:r>
              <a:rPr sz="1900" spc="-114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30" dirty="0">
                <a:solidFill>
                  <a:srgbClr val="171616"/>
                </a:solidFill>
                <a:latin typeface="Arial Black"/>
                <a:cs typeface="Arial Black"/>
              </a:rPr>
              <a:t>system</a:t>
            </a:r>
            <a:r>
              <a:rPr sz="1900" spc="-114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45" dirty="0">
                <a:solidFill>
                  <a:srgbClr val="171616"/>
                </a:solidFill>
                <a:latin typeface="Arial Black"/>
                <a:cs typeface="Arial Black"/>
              </a:rPr>
              <a:t>that</a:t>
            </a:r>
            <a:r>
              <a:rPr sz="1900" spc="-114" dirty="0">
                <a:solidFill>
                  <a:srgbClr val="171616"/>
                </a:solidFill>
                <a:latin typeface="Arial Black"/>
                <a:cs typeface="Arial Black"/>
              </a:rPr>
              <a:t> converts </a:t>
            </a:r>
            <a:r>
              <a:rPr sz="1900" spc="-204" dirty="0">
                <a:solidFill>
                  <a:srgbClr val="171616"/>
                </a:solidFill>
                <a:latin typeface="Arial Black"/>
                <a:cs typeface="Arial Black"/>
              </a:rPr>
              <a:t>SQL</a:t>
            </a:r>
            <a:r>
              <a:rPr sz="1900" spc="-12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171616"/>
                </a:solidFill>
                <a:latin typeface="Arial Black"/>
                <a:cs typeface="Arial Black"/>
              </a:rPr>
              <a:t>stored </a:t>
            </a:r>
            <a:r>
              <a:rPr sz="1900" spc="-105" dirty="0">
                <a:solidFill>
                  <a:srgbClr val="171616"/>
                </a:solidFill>
                <a:latin typeface="Arial Black"/>
                <a:cs typeface="Arial Black"/>
              </a:rPr>
              <a:t>procedures</a:t>
            </a:r>
            <a:r>
              <a:rPr sz="19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50" dirty="0">
                <a:solidFill>
                  <a:srgbClr val="171616"/>
                </a:solidFill>
                <a:latin typeface="Arial Black"/>
                <a:cs typeface="Arial Black"/>
              </a:rPr>
              <a:t>into</a:t>
            </a:r>
            <a:r>
              <a:rPr sz="1900" spc="-10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95" dirty="0">
                <a:solidFill>
                  <a:srgbClr val="171616"/>
                </a:solidFill>
                <a:latin typeface="Arial Black"/>
                <a:cs typeface="Arial Black"/>
              </a:rPr>
              <a:t>professional,</a:t>
            </a:r>
            <a:r>
              <a:rPr sz="19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171616"/>
                </a:solidFill>
                <a:latin typeface="Arial Black"/>
                <a:cs typeface="Arial Black"/>
              </a:rPr>
              <a:t>structured </a:t>
            </a:r>
            <a:r>
              <a:rPr sz="1900" spc="-85" dirty="0">
                <a:solidFill>
                  <a:srgbClr val="171616"/>
                </a:solidFill>
                <a:latin typeface="Arial Black"/>
                <a:cs typeface="Arial Black"/>
              </a:rPr>
              <a:t>documentation</a:t>
            </a:r>
            <a:r>
              <a:rPr sz="19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dirty="0">
                <a:solidFill>
                  <a:srgbClr val="171616"/>
                </a:solidFill>
                <a:latin typeface="Arial Black"/>
                <a:cs typeface="Arial Black"/>
              </a:rPr>
              <a:t>—</a:t>
            </a:r>
            <a:r>
              <a:rPr sz="19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20" dirty="0">
                <a:solidFill>
                  <a:srgbClr val="171616"/>
                </a:solidFill>
                <a:latin typeface="Arial Black"/>
                <a:cs typeface="Arial Black"/>
              </a:rPr>
              <a:t>saving</a:t>
            </a:r>
            <a:r>
              <a:rPr sz="19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75" dirty="0">
                <a:solidFill>
                  <a:srgbClr val="171616"/>
                </a:solidFill>
                <a:latin typeface="Arial Black"/>
                <a:cs typeface="Arial Black"/>
              </a:rPr>
              <a:t>time,</a:t>
            </a:r>
            <a:r>
              <a:rPr sz="19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00" dirty="0">
                <a:solidFill>
                  <a:srgbClr val="171616"/>
                </a:solidFill>
                <a:latin typeface="Arial Black"/>
                <a:cs typeface="Arial Black"/>
              </a:rPr>
              <a:t>reducing</a:t>
            </a:r>
            <a:r>
              <a:rPr sz="1900" spc="-10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85" dirty="0">
                <a:solidFill>
                  <a:srgbClr val="171616"/>
                </a:solidFill>
                <a:latin typeface="Arial Black"/>
                <a:cs typeface="Arial Black"/>
              </a:rPr>
              <a:t>knowledge </a:t>
            </a:r>
            <a:r>
              <a:rPr sz="1900" spc="-145" dirty="0">
                <a:solidFill>
                  <a:srgbClr val="171616"/>
                </a:solidFill>
                <a:latin typeface="Arial Black"/>
                <a:cs typeface="Arial Black"/>
              </a:rPr>
              <a:t>gaps,</a:t>
            </a:r>
            <a:r>
              <a:rPr sz="1900" spc="-12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70" dirty="0">
                <a:solidFill>
                  <a:srgbClr val="171616"/>
                </a:solidFill>
                <a:latin typeface="Arial Black"/>
                <a:cs typeface="Arial Black"/>
              </a:rPr>
              <a:t>and</a:t>
            </a:r>
            <a:r>
              <a:rPr sz="1900" spc="-12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70" dirty="0">
                <a:solidFill>
                  <a:srgbClr val="171616"/>
                </a:solidFill>
                <a:latin typeface="Arial Black"/>
                <a:cs typeface="Arial Black"/>
              </a:rPr>
              <a:t>improving</a:t>
            </a:r>
            <a:r>
              <a:rPr sz="1900" spc="-114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171616"/>
                </a:solidFill>
                <a:latin typeface="Arial Black"/>
                <a:cs typeface="Arial Black"/>
              </a:rPr>
              <a:t>maintainability.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6837" y="6267702"/>
            <a:ext cx="5629910" cy="19113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75" dirty="0">
                <a:solidFill>
                  <a:srgbClr val="171616"/>
                </a:solidFill>
                <a:latin typeface="Arial Black"/>
                <a:cs typeface="Arial Black"/>
              </a:rPr>
              <a:t>Current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35" dirty="0">
                <a:solidFill>
                  <a:srgbClr val="171616"/>
                </a:solidFill>
                <a:latin typeface="Arial Black"/>
                <a:cs typeface="Arial Black"/>
              </a:rPr>
              <a:t>Challenges:</a:t>
            </a:r>
            <a:endParaRPr sz="1800">
              <a:latin typeface="Arial Black"/>
              <a:cs typeface="Arial Black"/>
            </a:endParaRPr>
          </a:p>
          <a:p>
            <a:pPr marL="157480" indent="-144780">
              <a:lnSpc>
                <a:spcPct val="100000"/>
              </a:lnSpc>
              <a:spcBef>
                <a:spcPts val="315"/>
              </a:spcBef>
              <a:buChar char="•"/>
              <a:tabLst>
                <a:tab pos="157480" algn="l"/>
              </a:tabLst>
            </a:pPr>
            <a:r>
              <a:rPr sz="1800" spc="-114" dirty="0">
                <a:solidFill>
                  <a:srgbClr val="171616"/>
                </a:solidFill>
                <a:latin typeface="Arial Black"/>
                <a:cs typeface="Arial Black"/>
              </a:rPr>
              <a:t>Stored </a:t>
            </a:r>
            <a:r>
              <a:rPr sz="1800" spc="-110" dirty="0">
                <a:solidFill>
                  <a:srgbClr val="171616"/>
                </a:solidFill>
                <a:latin typeface="Arial Black"/>
                <a:cs typeface="Arial Black"/>
              </a:rPr>
              <a:t>procedures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are</a:t>
            </a:r>
            <a:r>
              <a:rPr sz="1800" spc="-10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171616"/>
                </a:solidFill>
                <a:latin typeface="Arial Black"/>
                <a:cs typeface="Arial Black"/>
              </a:rPr>
              <a:t>often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undocumented.</a:t>
            </a:r>
            <a:endParaRPr sz="1800">
              <a:latin typeface="Arial Black"/>
              <a:cs typeface="Arial Black"/>
            </a:endParaRPr>
          </a:p>
          <a:p>
            <a:pPr marL="12700" marR="5080" indent="144780">
              <a:lnSpc>
                <a:spcPct val="114599"/>
              </a:lnSpc>
              <a:buChar char="•"/>
              <a:tabLst>
                <a:tab pos="157480" algn="l"/>
              </a:tabLst>
            </a:pPr>
            <a:r>
              <a:rPr sz="1800" spc="-125" dirty="0">
                <a:solidFill>
                  <a:srgbClr val="171616"/>
                </a:solidFill>
                <a:latin typeface="Arial Black"/>
                <a:cs typeface="Arial Black"/>
              </a:rPr>
              <a:t>New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10" dirty="0">
                <a:solidFill>
                  <a:srgbClr val="171616"/>
                </a:solidFill>
                <a:latin typeface="Arial Black"/>
                <a:cs typeface="Arial Black"/>
              </a:rPr>
              <a:t>developers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14" dirty="0">
                <a:solidFill>
                  <a:srgbClr val="171616"/>
                </a:solidFill>
                <a:latin typeface="Arial Black"/>
                <a:cs typeface="Arial Black"/>
              </a:rPr>
              <a:t>struggle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171616"/>
                </a:solidFill>
                <a:latin typeface="Arial Black"/>
                <a:cs typeface="Arial Black"/>
              </a:rPr>
              <a:t>to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understand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75" dirty="0">
                <a:solidFill>
                  <a:srgbClr val="171616"/>
                </a:solidFill>
                <a:latin typeface="Arial Black"/>
                <a:cs typeface="Arial Black"/>
              </a:rPr>
              <a:t>existing </a:t>
            </a:r>
            <a:r>
              <a:rPr sz="1800" spc="-120" dirty="0">
                <a:solidFill>
                  <a:srgbClr val="171616"/>
                </a:solidFill>
                <a:latin typeface="Arial Black"/>
                <a:cs typeface="Arial Black"/>
              </a:rPr>
              <a:t>database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logic.</a:t>
            </a:r>
            <a:endParaRPr sz="1800">
              <a:latin typeface="Arial Black"/>
              <a:cs typeface="Arial Black"/>
            </a:endParaRPr>
          </a:p>
          <a:p>
            <a:pPr marL="157480" indent="-144780">
              <a:lnSpc>
                <a:spcPct val="100000"/>
              </a:lnSpc>
              <a:spcBef>
                <a:spcPts val="315"/>
              </a:spcBef>
              <a:buChar char="•"/>
              <a:tabLst>
                <a:tab pos="157480" algn="l"/>
              </a:tabLst>
            </a:pPr>
            <a:r>
              <a:rPr sz="1800" spc="-70" dirty="0">
                <a:solidFill>
                  <a:srgbClr val="171616"/>
                </a:solidFill>
                <a:latin typeface="Arial Black"/>
                <a:cs typeface="Arial Black"/>
              </a:rPr>
              <a:t>Manual</a:t>
            </a:r>
            <a:r>
              <a:rPr sz="1800" spc="-8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documentation</a:t>
            </a:r>
            <a:r>
              <a:rPr sz="1800" spc="-7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35" dirty="0">
                <a:solidFill>
                  <a:srgbClr val="171616"/>
                </a:solidFill>
                <a:latin typeface="Arial Black"/>
                <a:cs typeface="Arial Black"/>
              </a:rPr>
              <a:t>is</a:t>
            </a:r>
            <a:r>
              <a:rPr sz="1800" spc="-7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171616"/>
                </a:solidFill>
                <a:latin typeface="Arial Black"/>
                <a:cs typeface="Arial Black"/>
              </a:rPr>
              <a:t>time-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consuming.</a:t>
            </a:r>
            <a:endParaRPr sz="1800">
              <a:latin typeface="Arial Black"/>
              <a:cs typeface="Arial Black"/>
            </a:endParaRPr>
          </a:p>
          <a:p>
            <a:pPr marL="157480" indent="-144780">
              <a:lnSpc>
                <a:spcPct val="100000"/>
              </a:lnSpc>
              <a:spcBef>
                <a:spcPts val="315"/>
              </a:spcBef>
              <a:buChar char="•"/>
              <a:tabLst>
                <a:tab pos="157480" algn="l"/>
              </a:tabLst>
            </a:pPr>
            <a:r>
              <a:rPr sz="1800" spc="-145" dirty="0">
                <a:solidFill>
                  <a:srgbClr val="171616"/>
                </a:solidFill>
                <a:latin typeface="Arial Black"/>
                <a:cs typeface="Arial Black"/>
              </a:rPr>
              <a:t>Knowledge</a:t>
            </a:r>
            <a:r>
              <a:rPr sz="1800" spc="-114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Arial Black"/>
                <a:cs typeface="Arial Black"/>
              </a:rPr>
              <a:t>remains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75" dirty="0">
                <a:solidFill>
                  <a:srgbClr val="171616"/>
                </a:solidFill>
                <a:latin typeface="Arial Black"/>
                <a:cs typeface="Arial Black"/>
              </a:rPr>
              <a:t>with</a:t>
            </a:r>
            <a:r>
              <a:rPr sz="1800" spc="-10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95" dirty="0">
                <a:solidFill>
                  <a:srgbClr val="171616"/>
                </a:solidFill>
                <a:latin typeface="Arial Black"/>
                <a:cs typeface="Arial Black"/>
              </a:rPr>
              <a:t>senior</a:t>
            </a:r>
            <a:r>
              <a:rPr sz="1800" spc="-10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71616"/>
                </a:solidFill>
                <a:latin typeface="Arial Black"/>
                <a:cs typeface="Arial Black"/>
              </a:rPr>
              <a:t>developers.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752717" y="868457"/>
            <a:ext cx="9950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18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005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81072" y="1023937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6926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0561" y="8940894"/>
            <a:ext cx="1393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Key</a:t>
            </a:r>
            <a:r>
              <a:rPr sz="18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Features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9215" y="2372090"/>
            <a:ext cx="1718945" cy="17189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4945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535"/>
              </a:spcBef>
            </a:pPr>
            <a:r>
              <a:rPr sz="8000" spc="-830" dirty="0">
                <a:solidFill>
                  <a:srgbClr val="171616"/>
                </a:solidFill>
                <a:latin typeface="Arial Black"/>
                <a:cs typeface="Arial Black"/>
              </a:rPr>
              <a:t>01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2453" y="2357539"/>
            <a:ext cx="4375150" cy="19094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spc="-185" dirty="0">
                <a:solidFill>
                  <a:srgbClr val="FFFFFF"/>
                </a:solidFill>
                <a:latin typeface="Arial Black"/>
                <a:cs typeface="Arial Black"/>
              </a:rPr>
              <a:t>SQL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Parsing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14399"/>
              </a:lnSpc>
              <a:spcBef>
                <a:spcPts val="5"/>
              </a:spcBef>
            </a:pP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Automatically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reads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Arial Black"/>
                <a:cs typeface="Arial Black"/>
              </a:rPr>
              <a:t>parses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Black"/>
                <a:cs typeface="Arial Black"/>
              </a:rPr>
              <a:t>SQL 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stored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procedure </a:t>
            </a: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syntax,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identifying 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parameters, </a:t>
            </a:r>
            <a:r>
              <a:rPr sz="1800" spc="-135" dirty="0">
                <a:solidFill>
                  <a:srgbClr val="FFFFFF"/>
                </a:solidFill>
                <a:latin typeface="Arial Black"/>
                <a:cs typeface="Arial Black"/>
              </a:rPr>
              <a:t>logic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blocks,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cursors,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Black"/>
                <a:cs typeface="Arial Black"/>
              </a:rPr>
              <a:t>and </a:t>
            </a:r>
            <a:r>
              <a:rPr sz="1800" spc="-80" dirty="0">
                <a:solidFill>
                  <a:srgbClr val="FFFFFF"/>
                </a:solidFill>
                <a:latin typeface="Arial Black"/>
                <a:cs typeface="Arial Black"/>
              </a:rPr>
              <a:t>control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flow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structures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Arial Black"/>
                <a:cs typeface="Arial Black"/>
              </a:rPr>
              <a:t>with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Black"/>
                <a:cs typeface="Arial Black"/>
              </a:rPr>
              <a:t>high </a:t>
            </a:r>
            <a:r>
              <a:rPr sz="1800" spc="-30" dirty="0">
                <a:solidFill>
                  <a:srgbClr val="FFFFFF"/>
                </a:solidFill>
                <a:latin typeface="Arial Black"/>
                <a:cs typeface="Arial Black"/>
              </a:rPr>
              <a:t>accuracy.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9215" y="5694908"/>
            <a:ext cx="1718945" cy="17189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4945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535"/>
              </a:spcBef>
            </a:pPr>
            <a:r>
              <a:rPr sz="8000" spc="-830" dirty="0">
                <a:solidFill>
                  <a:srgbClr val="171616"/>
                </a:solidFill>
                <a:latin typeface="Arial Black"/>
                <a:cs typeface="Arial Black"/>
              </a:rPr>
              <a:t>03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2453" y="5680356"/>
            <a:ext cx="4286250" cy="19094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spc="-70" dirty="0">
                <a:solidFill>
                  <a:srgbClr val="FFFFFF"/>
                </a:solidFill>
                <a:latin typeface="Arial Black"/>
                <a:cs typeface="Arial Black"/>
              </a:rPr>
              <a:t>Markdown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Generation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14399"/>
              </a:lnSpc>
              <a:spcBef>
                <a:spcPts val="5"/>
              </a:spcBef>
            </a:pP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Converts</a:t>
            </a:r>
            <a:r>
              <a:rPr sz="18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AI-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analyzed</a:t>
            </a:r>
            <a:r>
              <a:rPr sz="18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procedure</a:t>
            </a:r>
            <a:r>
              <a:rPr sz="18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Black"/>
                <a:cs typeface="Arial Black"/>
              </a:rPr>
              <a:t>data </a:t>
            </a:r>
            <a:r>
              <a:rPr sz="1800" spc="-45" dirty="0">
                <a:solidFill>
                  <a:srgbClr val="FFFFFF"/>
                </a:solidFill>
                <a:latin typeface="Arial Black"/>
                <a:cs typeface="Arial Black"/>
              </a:rPr>
              <a:t>into</a:t>
            </a:r>
            <a:r>
              <a:rPr sz="1800" spc="-114" dirty="0">
                <a:solidFill>
                  <a:srgbClr val="FFFFFF"/>
                </a:solidFill>
                <a:latin typeface="Arial Black"/>
                <a:cs typeface="Arial Black"/>
              </a:rPr>
              <a:t> clean,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structured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Markdown </a:t>
            </a:r>
            <a:r>
              <a:rPr sz="1800" spc="-80" dirty="0">
                <a:solidFill>
                  <a:srgbClr val="FFFFFF"/>
                </a:solidFill>
                <a:latin typeface="Arial Black"/>
                <a:cs typeface="Arial Black"/>
              </a:rPr>
              <a:t>documentation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including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 Black"/>
                <a:cs typeface="Arial Black"/>
              </a:rPr>
              <a:t>headers, </a:t>
            </a: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tables,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Arial Black"/>
                <a:cs typeface="Arial Black"/>
              </a:rPr>
              <a:t>code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Arial Black"/>
                <a:cs typeface="Arial Black"/>
              </a:rPr>
              <a:t>blocks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ready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Black"/>
                <a:cs typeface="Arial Black"/>
              </a:rPr>
              <a:t>for </a:t>
            </a:r>
            <a:r>
              <a:rPr sz="1800" spc="-20" dirty="0">
                <a:solidFill>
                  <a:srgbClr val="FFFFFF"/>
                </a:solidFill>
                <a:latin typeface="Arial Black"/>
                <a:cs typeface="Arial Black"/>
              </a:rPr>
              <a:t>use.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03504" y="2372090"/>
            <a:ext cx="1718945" cy="17189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4945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535"/>
              </a:spcBef>
            </a:pPr>
            <a:r>
              <a:rPr sz="8000" spc="-830" dirty="0">
                <a:solidFill>
                  <a:srgbClr val="171616"/>
                </a:solidFill>
                <a:latin typeface="Arial Black"/>
                <a:cs typeface="Arial Black"/>
              </a:rPr>
              <a:t>02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96742" y="2357539"/>
            <a:ext cx="4435475" cy="19094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spc="-140" dirty="0">
                <a:solidFill>
                  <a:srgbClr val="FFFFFF"/>
                </a:solidFill>
                <a:latin typeface="Arial Black"/>
                <a:cs typeface="Arial Black"/>
              </a:rPr>
              <a:t>AI</a:t>
            </a:r>
            <a:r>
              <a:rPr sz="18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Analysis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14399"/>
              </a:lnSpc>
              <a:spcBef>
                <a:spcPts val="5"/>
              </a:spcBef>
            </a:pPr>
            <a:r>
              <a:rPr sz="1800" spc="-130" dirty="0">
                <a:solidFill>
                  <a:srgbClr val="FFFFFF"/>
                </a:solidFill>
                <a:latin typeface="Arial Black"/>
                <a:cs typeface="Arial Black"/>
              </a:rPr>
              <a:t>Leverages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large</a:t>
            </a: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 Black"/>
                <a:cs typeface="Arial Black"/>
              </a:rPr>
              <a:t>language </a:t>
            </a: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models </a:t>
            </a:r>
            <a:r>
              <a:rPr sz="1800" spc="-25" dirty="0">
                <a:solidFill>
                  <a:srgbClr val="FFFFFF"/>
                </a:solidFill>
                <a:latin typeface="Arial Black"/>
                <a:cs typeface="Arial Black"/>
              </a:rPr>
              <a:t>to </a:t>
            </a:r>
            <a:r>
              <a:rPr sz="1800" spc="-50" dirty="0">
                <a:solidFill>
                  <a:srgbClr val="FFFFFF"/>
                </a:solidFill>
                <a:latin typeface="Arial Black"/>
                <a:cs typeface="Arial Black"/>
              </a:rPr>
              <a:t>interpret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procedure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logic,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 Black"/>
                <a:cs typeface="Arial Black"/>
              </a:rPr>
              <a:t>infer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intent, </a:t>
            </a:r>
            <a:r>
              <a:rPr sz="1800" spc="-120" dirty="0">
                <a:solidFill>
                  <a:srgbClr val="FFFFFF"/>
                </a:solidFill>
                <a:latin typeface="Arial Black"/>
                <a:cs typeface="Arial Black"/>
              </a:rPr>
              <a:t>describe</a:t>
            </a:r>
            <a:r>
              <a:rPr sz="18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Black"/>
                <a:cs typeface="Arial Black"/>
              </a:rPr>
              <a:t>input/output</a:t>
            </a:r>
            <a:r>
              <a:rPr sz="18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parameters, </a:t>
            </a:r>
            <a:r>
              <a:rPr sz="1800" spc="-6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generate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Arial Black"/>
                <a:cs typeface="Arial Black"/>
              </a:rPr>
              <a:t>human-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readable summaries.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03504" y="5694908"/>
            <a:ext cx="1718945" cy="17189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4945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535"/>
              </a:spcBef>
            </a:pPr>
            <a:r>
              <a:rPr sz="8000" spc="-830" dirty="0">
                <a:solidFill>
                  <a:srgbClr val="171616"/>
                </a:solidFill>
                <a:latin typeface="Arial Black"/>
                <a:cs typeface="Arial Black"/>
              </a:rPr>
              <a:t>04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6742" y="5680356"/>
            <a:ext cx="4349750" cy="1909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00430">
              <a:lnSpc>
                <a:spcPct val="114399"/>
              </a:lnSpc>
              <a:spcBef>
                <a:spcPts val="95"/>
              </a:spcBef>
            </a:pP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Professional</a:t>
            </a:r>
            <a:r>
              <a:rPr sz="18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Output</a:t>
            </a:r>
            <a:r>
              <a:rPr sz="1800" spc="5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Produces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polished,</a:t>
            </a:r>
            <a:r>
              <a:rPr sz="18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consistent </a:t>
            </a:r>
            <a:r>
              <a:rPr sz="1800" spc="-80" dirty="0">
                <a:solidFill>
                  <a:srgbClr val="FFFFFF"/>
                </a:solidFill>
                <a:latin typeface="Arial Black"/>
                <a:cs typeface="Arial Black"/>
              </a:rPr>
              <a:t>documentation</a:t>
            </a:r>
            <a:r>
              <a:rPr sz="18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suitable</a:t>
            </a:r>
            <a:r>
              <a:rPr sz="18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onboarding,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audits, </a:t>
            </a:r>
            <a:r>
              <a:rPr sz="1800" spc="-6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18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 Black"/>
                <a:cs typeface="Arial Black"/>
              </a:rPr>
              <a:t>maintenance</a:t>
            </a:r>
            <a:endParaRPr sz="1800">
              <a:latin typeface="Arial Black"/>
              <a:cs typeface="Arial Black"/>
            </a:endParaRPr>
          </a:p>
          <a:p>
            <a:pPr marL="12700" marR="558800">
              <a:lnSpc>
                <a:spcPct val="114399"/>
              </a:lnSpc>
            </a:pPr>
            <a:r>
              <a:rPr sz="1800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 Black"/>
                <a:cs typeface="Arial Black"/>
              </a:rPr>
              <a:t>eliminating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Arial Black"/>
                <a:cs typeface="Arial Black"/>
              </a:rPr>
              <a:t>manual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 Black"/>
                <a:cs typeface="Arial Black"/>
              </a:rPr>
              <a:t>effort</a:t>
            </a:r>
            <a:r>
              <a:rPr sz="18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Black"/>
                <a:cs typeface="Arial Black"/>
              </a:rPr>
              <a:t>and </a:t>
            </a:r>
            <a:r>
              <a:rPr sz="1800" spc="-110" dirty="0">
                <a:solidFill>
                  <a:srgbClr val="FFFFFF"/>
                </a:solidFill>
                <a:latin typeface="Arial Black"/>
                <a:cs typeface="Arial Black"/>
              </a:rPr>
              <a:t>knowledge</a:t>
            </a:r>
            <a:r>
              <a:rPr sz="18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silos.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52717" y="868569"/>
            <a:ext cx="99441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Page</a:t>
            </a:r>
            <a:r>
              <a:rPr sz="18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Lucida Sans Unicode"/>
                <a:cs typeface="Lucida Sans Unicode"/>
              </a:rPr>
              <a:t>006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981072" y="1023937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6926" y="0"/>
                </a:lnTo>
              </a:path>
            </a:pathLst>
          </a:custGeom>
          <a:ln w="9524">
            <a:solidFill>
              <a:srgbClr val="17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0561" y="8900772"/>
            <a:ext cx="138557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15" dirty="0">
                <a:solidFill>
                  <a:srgbClr val="171616"/>
                </a:solidFill>
                <a:latin typeface="Lucida Sans Unicode"/>
                <a:cs typeface="Lucida Sans Unicode"/>
              </a:rPr>
              <a:t>Presentation </a:t>
            </a:r>
            <a:r>
              <a:rPr sz="18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Design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9332" y="2427385"/>
            <a:ext cx="11844655" cy="14801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000" spc="-114" dirty="0">
                <a:solidFill>
                  <a:srgbClr val="171616"/>
                </a:solidFill>
                <a:latin typeface="Arial Black"/>
                <a:cs typeface="Arial Black"/>
              </a:rPr>
              <a:t>Upload</a:t>
            </a:r>
            <a:r>
              <a:rPr sz="20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2000" spc="-130" dirty="0">
                <a:solidFill>
                  <a:srgbClr val="171616"/>
                </a:solidFill>
                <a:latin typeface="Arial Black"/>
                <a:cs typeface="Arial Black"/>
              </a:rPr>
              <a:t>Stored</a:t>
            </a:r>
            <a:r>
              <a:rPr sz="20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171616"/>
                </a:solidFill>
                <a:latin typeface="Arial Black"/>
                <a:cs typeface="Arial Black"/>
              </a:rPr>
              <a:t>Procedure</a:t>
            </a:r>
            <a:endParaRPr sz="2000">
              <a:latin typeface="Arial Black"/>
              <a:cs typeface="Arial Black"/>
            </a:endParaRPr>
          </a:p>
          <a:p>
            <a:pPr marL="12700" marR="5080">
              <a:lnSpc>
                <a:spcPts val="2930"/>
              </a:lnSpc>
              <a:spcBef>
                <a:spcPts val="30"/>
              </a:spcBef>
            </a:pPr>
            <a:r>
              <a:rPr sz="2100" spc="-70" dirty="0">
                <a:solidFill>
                  <a:srgbClr val="171616"/>
                </a:solidFill>
                <a:latin typeface="Lucida Sans Unicode"/>
                <a:cs typeface="Lucida Sans Unicode"/>
              </a:rPr>
              <a:t>The</a:t>
            </a:r>
            <a:r>
              <a:rPr sz="2100" spc="-12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25" dirty="0">
                <a:solidFill>
                  <a:srgbClr val="171616"/>
                </a:solidFill>
                <a:latin typeface="Lucida Sans Unicode"/>
                <a:cs typeface="Lucida Sans Unicode"/>
              </a:rPr>
              <a:t>user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uploads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171616"/>
                </a:solidFill>
                <a:latin typeface="Lucida Sans Unicode"/>
                <a:cs typeface="Lucida Sans Unicode"/>
              </a:rPr>
              <a:t>or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pastes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171616"/>
                </a:solidFill>
                <a:latin typeface="Lucida Sans Unicode"/>
                <a:cs typeface="Lucida Sans Unicode"/>
              </a:rPr>
              <a:t>a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SQL</a:t>
            </a:r>
            <a:r>
              <a:rPr sz="2100" spc="-12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stored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30" dirty="0">
                <a:solidFill>
                  <a:srgbClr val="171616"/>
                </a:solidFill>
                <a:latin typeface="Lucida Sans Unicode"/>
                <a:cs typeface="Lucida Sans Unicode"/>
              </a:rPr>
              <a:t>procedure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into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the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60" dirty="0">
                <a:solidFill>
                  <a:srgbClr val="171616"/>
                </a:solidFill>
                <a:latin typeface="Lucida Sans Unicode"/>
                <a:cs typeface="Lucida Sans Unicode"/>
              </a:rPr>
              <a:t>system.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70" dirty="0">
                <a:solidFill>
                  <a:srgbClr val="171616"/>
                </a:solidFill>
                <a:latin typeface="Lucida Sans Unicode"/>
                <a:cs typeface="Lucida Sans Unicode"/>
              </a:rPr>
              <a:t>The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input</a:t>
            </a:r>
            <a:r>
              <a:rPr sz="2100" spc="-12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35" dirty="0">
                <a:solidFill>
                  <a:srgbClr val="171616"/>
                </a:solidFill>
                <a:latin typeface="Lucida Sans Unicode"/>
                <a:cs typeface="Lucida Sans Unicode"/>
              </a:rPr>
              <a:t>can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171616"/>
                </a:solidFill>
                <a:latin typeface="Lucida Sans Unicode"/>
                <a:cs typeface="Lucida Sans Unicode"/>
              </a:rPr>
              <a:t>be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171616"/>
                </a:solidFill>
                <a:latin typeface="Lucida Sans Unicode"/>
                <a:cs typeface="Lucida Sans Unicode"/>
              </a:rPr>
              <a:t>a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171616"/>
                </a:solidFill>
                <a:latin typeface="Lucida Sans Unicode"/>
                <a:cs typeface="Lucida Sans Unicode"/>
              </a:rPr>
              <a:t>raw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.sql </a:t>
            </a:r>
            <a:r>
              <a:rPr sz="2100" spc="-70" dirty="0">
                <a:solidFill>
                  <a:srgbClr val="171616"/>
                </a:solidFill>
                <a:latin typeface="Lucida Sans Unicode"/>
                <a:cs typeface="Lucida Sans Unicode"/>
              </a:rPr>
              <a:t>file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171616"/>
                </a:solidFill>
                <a:latin typeface="Lucida Sans Unicode"/>
                <a:cs typeface="Lucida Sans Unicode"/>
              </a:rPr>
              <a:t>or</a:t>
            </a:r>
            <a:r>
              <a:rPr sz="210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plain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90" dirty="0">
                <a:solidFill>
                  <a:srgbClr val="171616"/>
                </a:solidFill>
                <a:latin typeface="Lucida Sans Unicode"/>
                <a:cs typeface="Lucida Sans Unicode"/>
              </a:rPr>
              <a:t>text.</a:t>
            </a:r>
            <a:r>
              <a:rPr sz="210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70" dirty="0">
                <a:solidFill>
                  <a:srgbClr val="171616"/>
                </a:solidFill>
                <a:latin typeface="Lucida Sans Unicode"/>
                <a:cs typeface="Lucida Sans Unicode"/>
              </a:rPr>
              <a:t>The</a:t>
            </a:r>
            <a:r>
              <a:rPr sz="210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system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accepts</a:t>
            </a:r>
            <a:r>
              <a:rPr sz="210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35" dirty="0">
                <a:solidFill>
                  <a:srgbClr val="171616"/>
                </a:solidFill>
                <a:latin typeface="Lucida Sans Unicode"/>
                <a:cs typeface="Lucida Sans Unicode"/>
              </a:rPr>
              <a:t>procedures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40" dirty="0">
                <a:solidFill>
                  <a:srgbClr val="171616"/>
                </a:solidFill>
                <a:latin typeface="Lucida Sans Unicode"/>
                <a:cs typeface="Lucida Sans Unicode"/>
              </a:rPr>
              <a:t>from</a:t>
            </a:r>
            <a:r>
              <a:rPr sz="210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35" dirty="0">
                <a:solidFill>
                  <a:srgbClr val="171616"/>
                </a:solidFill>
                <a:latin typeface="Lucida Sans Unicode"/>
                <a:cs typeface="Lucida Sans Unicode"/>
              </a:rPr>
              <a:t>major</a:t>
            </a:r>
            <a:r>
              <a:rPr sz="210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30" dirty="0">
                <a:solidFill>
                  <a:srgbClr val="171616"/>
                </a:solidFill>
                <a:latin typeface="Lucida Sans Unicode"/>
                <a:cs typeface="Lucida Sans Unicode"/>
              </a:rPr>
              <a:t>database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platforms</a:t>
            </a:r>
            <a:r>
              <a:rPr sz="210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70" dirty="0">
                <a:solidFill>
                  <a:srgbClr val="171616"/>
                </a:solidFill>
                <a:latin typeface="Lucida Sans Unicode"/>
                <a:cs typeface="Lucida Sans Unicode"/>
              </a:rPr>
              <a:t>including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25" dirty="0">
                <a:solidFill>
                  <a:srgbClr val="171616"/>
                </a:solidFill>
                <a:latin typeface="Lucida Sans Unicode"/>
                <a:cs typeface="Lucida Sans Unicode"/>
              </a:rPr>
              <a:t>SQL </a:t>
            </a:r>
            <a:r>
              <a:rPr sz="2100" spc="-35" dirty="0">
                <a:solidFill>
                  <a:srgbClr val="171616"/>
                </a:solidFill>
                <a:latin typeface="Lucida Sans Unicode"/>
                <a:cs typeface="Lucida Sans Unicode"/>
              </a:rPr>
              <a:t>Server,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30" dirty="0">
                <a:solidFill>
                  <a:srgbClr val="171616"/>
                </a:solidFill>
                <a:latin typeface="Lucida Sans Unicode"/>
                <a:cs typeface="Lucida Sans Unicode"/>
              </a:rPr>
              <a:t>MySQL,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and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PostgreSQL,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ensuring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25" dirty="0">
                <a:solidFill>
                  <a:srgbClr val="171616"/>
                </a:solidFill>
                <a:latin typeface="Lucida Sans Unicode"/>
                <a:cs typeface="Lucida Sans Unicode"/>
              </a:rPr>
              <a:t>broad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60" dirty="0">
                <a:solidFill>
                  <a:srgbClr val="171616"/>
                </a:solidFill>
                <a:latin typeface="Lucida Sans Unicode"/>
                <a:cs typeface="Lucida Sans Unicode"/>
              </a:rPr>
              <a:t>compatibility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40" dirty="0">
                <a:solidFill>
                  <a:srgbClr val="171616"/>
                </a:solidFill>
                <a:latin typeface="Lucida Sans Unicode"/>
                <a:cs typeface="Lucida Sans Unicode"/>
              </a:rPr>
              <a:t>for</a:t>
            </a:r>
            <a:r>
              <a:rPr sz="21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35" dirty="0">
                <a:solidFill>
                  <a:srgbClr val="171616"/>
                </a:solidFill>
                <a:latin typeface="Lucida Sans Unicode"/>
                <a:cs typeface="Lucida Sans Unicode"/>
              </a:rPr>
              <a:t>development</a:t>
            </a:r>
            <a:r>
              <a:rPr sz="2100" spc="-114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teams.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8680" y="2198571"/>
            <a:ext cx="2345055" cy="2345055"/>
          </a:xfrm>
          <a:prstGeom prst="rect">
            <a:avLst/>
          </a:prstGeom>
          <a:solidFill>
            <a:srgbClr val="171616"/>
          </a:solidFill>
        </p:spPr>
        <p:txBody>
          <a:bodyPr vert="horz" wrap="square" lIns="0" tIns="274320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2160"/>
              </a:spcBef>
            </a:pPr>
            <a:r>
              <a:rPr sz="11000" spc="-1130" dirty="0">
                <a:solidFill>
                  <a:srgbClr val="FFFFFF"/>
                </a:solidFill>
                <a:latin typeface="Arial Black"/>
                <a:cs typeface="Arial Black"/>
              </a:rPr>
              <a:t>01</a:t>
            </a:r>
            <a:endParaRPr sz="110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89097" y="6094101"/>
            <a:ext cx="11516995" cy="14420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50" spc="-155" dirty="0">
                <a:solidFill>
                  <a:srgbClr val="171616"/>
                </a:solidFill>
                <a:latin typeface="Arial Black"/>
                <a:cs typeface="Arial Black"/>
              </a:rPr>
              <a:t>AI</a:t>
            </a:r>
            <a:r>
              <a:rPr sz="1950" spc="-135" dirty="0">
                <a:solidFill>
                  <a:srgbClr val="171616"/>
                </a:solidFill>
                <a:latin typeface="Arial Black"/>
                <a:cs typeface="Arial Black"/>
              </a:rPr>
              <a:t> Analyzes</a:t>
            </a:r>
            <a:r>
              <a:rPr sz="1950" spc="-13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50" spc="-85" dirty="0">
                <a:solidFill>
                  <a:srgbClr val="171616"/>
                </a:solidFill>
                <a:latin typeface="Arial Black"/>
                <a:cs typeface="Arial Black"/>
              </a:rPr>
              <a:t>and</a:t>
            </a:r>
            <a:r>
              <a:rPr sz="1950" spc="-13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950" spc="-10" dirty="0">
                <a:solidFill>
                  <a:srgbClr val="171616"/>
                </a:solidFill>
                <a:latin typeface="Arial Black"/>
                <a:cs typeface="Arial Black"/>
              </a:rPr>
              <a:t>Documents</a:t>
            </a:r>
            <a:endParaRPr sz="1950">
              <a:latin typeface="Arial Black"/>
              <a:cs typeface="Arial Black"/>
            </a:endParaRPr>
          </a:p>
          <a:p>
            <a:pPr marL="12700" marR="5080">
              <a:lnSpc>
                <a:spcPts val="2850"/>
              </a:lnSpc>
              <a:spcBef>
                <a:spcPts val="40"/>
              </a:spcBef>
            </a:pPr>
            <a:r>
              <a:rPr sz="2050" spc="-75" dirty="0">
                <a:solidFill>
                  <a:srgbClr val="171616"/>
                </a:solidFill>
                <a:latin typeface="Lucida Sans Unicode"/>
                <a:cs typeface="Lucida Sans Unicode"/>
              </a:rPr>
              <a:t>The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80" dirty="0">
                <a:solidFill>
                  <a:srgbClr val="171616"/>
                </a:solidFill>
                <a:latin typeface="Lucida Sans Unicode"/>
                <a:cs typeface="Lucida Sans Unicode"/>
              </a:rPr>
              <a:t>AI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engine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parses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the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0" dirty="0">
                <a:solidFill>
                  <a:srgbClr val="171616"/>
                </a:solidFill>
                <a:latin typeface="Lucida Sans Unicode"/>
                <a:cs typeface="Lucida Sans Unicode"/>
              </a:rPr>
              <a:t>stored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procedure,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identifies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80" dirty="0">
                <a:solidFill>
                  <a:srgbClr val="171616"/>
                </a:solidFill>
                <a:latin typeface="Lucida Sans Unicode"/>
                <a:cs typeface="Lucida Sans Unicode"/>
              </a:rPr>
              <a:t>its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purpose,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0" dirty="0">
                <a:solidFill>
                  <a:srgbClr val="171616"/>
                </a:solidFill>
                <a:latin typeface="Lucida Sans Unicode"/>
                <a:cs typeface="Lucida Sans Unicode"/>
              </a:rPr>
              <a:t>parameters,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90" dirty="0">
                <a:solidFill>
                  <a:srgbClr val="171616"/>
                </a:solidFill>
                <a:latin typeface="Lucida Sans Unicode"/>
                <a:cs typeface="Lucida Sans Unicode"/>
              </a:rPr>
              <a:t>logic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75" dirty="0">
                <a:solidFill>
                  <a:srgbClr val="171616"/>
                </a:solidFill>
                <a:latin typeface="Lucida Sans Unicode"/>
                <a:cs typeface="Lucida Sans Unicode"/>
              </a:rPr>
              <a:t>flow,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25" dirty="0">
                <a:solidFill>
                  <a:srgbClr val="171616"/>
                </a:solidFill>
                <a:latin typeface="Lucida Sans Unicode"/>
                <a:cs typeface="Lucida Sans Unicode"/>
              </a:rPr>
              <a:t>and return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values.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30" dirty="0">
                <a:solidFill>
                  <a:srgbClr val="171616"/>
                </a:solidFill>
                <a:latin typeface="Lucida Sans Unicode"/>
                <a:cs typeface="Lucida Sans Unicode"/>
              </a:rPr>
              <a:t>It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25" dirty="0">
                <a:solidFill>
                  <a:srgbClr val="171616"/>
                </a:solidFill>
                <a:latin typeface="Lucida Sans Unicode"/>
                <a:cs typeface="Lucida Sans Unicode"/>
              </a:rPr>
              <a:t>then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automatically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generates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structured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30" dirty="0">
                <a:solidFill>
                  <a:srgbClr val="171616"/>
                </a:solidFill>
                <a:latin typeface="Lucida Sans Unicode"/>
                <a:cs typeface="Lucida Sans Unicode"/>
              </a:rPr>
              <a:t>Markdown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documentation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including </a:t>
            </a:r>
            <a:r>
              <a:rPr sz="2050" spc="-65" dirty="0">
                <a:solidFill>
                  <a:srgbClr val="171616"/>
                </a:solidFill>
                <a:latin typeface="Lucida Sans Unicode"/>
                <a:cs typeface="Lucida Sans Unicode"/>
              </a:rPr>
              <a:t>descriptions,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25" dirty="0">
                <a:solidFill>
                  <a:srgbClr val="171616"/>
                </a:solidFill>
                <a:latin typeface="Lucida Sans Unicode"/>
                <a:cs typeface="Lucida Sans Unicode"/>
              </a:rPr>
              <a:t>parameter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65" dirty="0">
                <a:solidFill>
                  <a:srgbClr val="171616"/>
                </a:solidFill>
                <a:latin typeface="Lucida Sans Unicode"/>
                <a:cs typeface="Lucida Sans Unicode"/>
              </a:rPr>
              <a:t>tables,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30" dirty="0">
                <a:solidFill>
                  <a:srgbClr val="171616"/>
                </a:solidFill>
                <a:latin typeface="Lucida Sans Unicode"/>
                <a:cs typeface="Lucida Sans Unicode"/>
              </a:rPr>
              <a:t>and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70" dirty="0">
                <a:solidFill>
                  <a:srgbClr val="171616"/>
                </a:solidFill>
                <a:latin typeface="Lucida Sans Unicode"/>
                <a:cs typeface="Lucida Sans Unicode"/>
              </a:rPr>
              <a:t>usage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60" dirty="0">
                <a:solidFill>
                  <a:srgbClr val="171616"/>
                </a:solidFill>
                <a:latin typeface="Lucida Sans Unicode"/>
                <a:cs typeface="Lucida Sans Unicode"/>
              </a:rPr>
              <a:t>examples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rgbClr val="171616"/>
                </a:solidFill>
                <a:latin typeface="Lucida Sans Unicode"/>
                <a:cs typeface="Lucida Sans Unicode"/>
              </a:rPr>
              <a:t>—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25" dirty="0">
                <a:solidFill>
                  <a:srgbClr val="171616"/>
                </a:solidFill>
                <a:latin typeface="Lucida Sans Unicode"/>
                <a:cs typeface="Lucida Sans Unicode"/>
              </a:rPr>
              <a:t>ready</a:t>
            </a:r>
            <a:r>
              <a:rPr sz="205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0" dirty="0">
                <a:solidFill>
                  <a:srgbClr val="171616"/>
                </a:solidFill>
                <a:latin typeface="Lucida Sans Unicode"/>
                <a:cs typeface="Lucida Sans Unicode"/>
              </a:rPr>
              <a:t>for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0" dirty="0">
                <a:solidFill>
                  <a:srgbClr val="171616"/>
                </a:solidFill>
                <a:latin typeface="Lucida Sans Unicode"/>
                <a:cs typeface="Lucida Sans Unicode"/>
              </a:rPr>
              <a:t>immediate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use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by</a:t>
            </a:r>
            <a:r>
              <a:rPr sz="205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developers.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7662" y="5743574"/>
            <a:ext cx="2345055" cy="2345055"/>
          </a:xfrm>
          <a:prstGeom prst="rect">
            <a:avLst/>
          </a:prstGeom>
          <a:solidFill>
            <a:srgbClr val="171616"/>
          </a:solidFill>
        </p:spPr>
        <p:txBody>
          <a:bodyPr vert="horz" wrap="square" lIns="0" tIns="274320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2160"/>
              </a:spcBef>
            </a:pPr>
            <a:r>
              <a:rPr sz="11000" spc="-1130" dirty="0">
                <a:solidFill>
                  <a:srgbClr val="FFFFFF"/>
                </a:solidFill>
                <a:latin typeface="Arial Black"/>
                <a:cs typeface="Arial Black"/>
              </a:rPr>
              <a:t>02</a:t>
            </a:r>
            <a:endParaRPr sz="11000">
              <a:latin typeface="Arial Black"/>
              <a:cs typeface="Arial Black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8272" rIns="0" bIns="0" rtlCol="0">
            <a:spAutoFit/>
          </a:bodyPr>
          <a:lstStyle/>
          <a:p>
            <a:pPr marL="1945639">
              <a:lnSpc>
                <a:spcPct val="100000"/>
              </a:lnSpc>
              <a:spcBef>
                <a:spcPts val="125"/>
              </a:spcBef>
            </a:pPr>
            <a:r>
              <a:rPr sz="5400" b="0" spc="-185" dirty="0">
                <a:solidFill>
                  <a:srgbClr val="737373"/>
                </a:solidFill>
                <a:latin typeface="Arial Black"/>
                <a:cs typeface="Arial Black"/>
              </a:rPr>
              <a:t>Working</a:t>
            </a:r>
            <a:endParaRPr sz="5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68330" y="0"/>
            <a:ext cx="11320145" cy="10287000"/>
            <a:chOff x="6968330" y="0"/>
            <a:chExt cx="11320145" cy="10287000"/>
          </a:xfrm>
        </p:grpSpPr>
        <p:sp>
          <p:nvSpPr>
            <p:cNvPr id="3" name="object 3"/>
            <p:cNvSpPr/>
            <p:nvPr/>
          </p:nvSpPr>
          <p:spPr>
            <a:xfrm>
              <a:off x="9143999" y="0"/>
              <a:ext cx="9140190" cy="10287000"/>
            </a:xfrm>
            <a:custGeom>
              <a:avLst/>
              <a:gdLst/>
              <a:ahLst/>
              <a:cxnLst/>
              <a:rect l="l" t="t" r="r" b="b"/>
              <a:pathLst>
                <a:path w="9140190" h="10287000">
                  <a:moveTo>
                    <a:pt x="914013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9140138" y="0"/>
                  </a:lnTo>
                  <a:lnTo>
                    <a:pt x="9140138" y="10286999"/>
                  </a:lnTo>
                  <a:close/>
                </a:path>
              </a:pathLst>
            </a:custGeom>
            <a:solidFill>
              <a:srgbClr val="17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81072" y="1023937"/>
              <a:ext cx="1307465" cy="0"/>
            </a:xfrm>
            <a:custGeom>
              <a:avLst/>
              <a:gdLst/>
              <a:ahLst/>
              <a:cxnLst/>
              <a:rect l="l" t="t" r="r" b="b"/>
              <a:pathLst>
                <a:path w="1307465">
                  <a:moveTo>
                    <a:pt x="0" y="0"/>
                  </a:moveTo>
                  <a:lnTo>
                    <a:pt x="1306926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8330" y="12064"/>
              <a:ext cx="5124449" cy="8229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632931" y="2674022"/>
              <a:ext cx="350520" cy="5918200"/>
            </a:xfrm>
            <a:custGeom>
              <a:avLst/>
              <a:gdLst/>
              <a:ahLst/>
              <a:cxnLst/>
              <a:rect l="l" t="t" r="r" b="b"/>
              <a:pathLst>
                <a:path w="350520" h="5918200">
                  <a:moveTo>
                    <a:pt x="350062" y="5567642"/>
                  </a:moveTo>
                  <a:lnTo>
                    <a:pt x="0" y="5567642"/>
                  </a:lnTo>
                  <a:lnTo>
                    <a:pt x="0" y="5917704"/>
                  </a:lnTo>
                  <a:lnTo>
                    <a:pt x="350062" y="5917704"/>
                  </a:lnTo>
                  <a:lnTo>
                    <a:pt x="350062" y="5567642"/>
                  </a:lnTo>
                  <a:close/>
                </a:path>
                <a:path w="350520" h="5918200">
                  <a:moveTo>
                    <a:pt x="350062" y="3711765"/>
                  </a:moveTo>
                  <a:lnTo>
                    <a:pt x="0" y="3711765"/>
                  </a:lnTo>
                  <a:lnTo>
                    <a:pt x="0" y="4061828"/>
                  </a:lnTo>
                  <a:lnTo>
                    <a:pt x="350062" y="4061828"/>
                  </a:lnTo>
                  <a:lnTo>
                    <a:pt x="350062" y="3711765"/>
                  </a:lnTo>
                  <a:close/>
                </a:path>
                <a:path w="350520" h="5918200">
                  <a:moveTo>
                    <a:pt x="350062" y="1855889"/>
                  </a:moveTo>
                  <a:lnTo>
                    <a:pt x="0" y="1855889"/>
                  </a:lnTo>
                  <a:lnTo>
                    <a:pt x="0" y="2205939"/>
                  </a:lnTo>
                  <a:lnTo>
                    <a:pt x="350062" y="2205939"/>
                  </a:lnTo>
                  <a:lnTo>
                    <a:pt x="350062" y="1855889"/>
                  </a:lnTo>
                  <a:close/>
                </a:path>
                <a:path w="350520" h="5918200">
                  <a:moveTo>
                    <a:pt x="350062" y="0"/>
                  </a:moveTo>
                  <a:lnTo>
                    <a:pt x="0" y="0"/>
                  </a:lnTo>
                  <a:lnTo>
                    <a:pt x="0" y="350062"/>
                  </a:lnTo>
                  <a:lnTo>
                    <a:pt x="350062" y="350062"/>
                  </a:lnTo>
                  <a:lnTo>
                    <a:pt x="350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752717" y="868569"/>
            <a:ext cx="99441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18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008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7109"/>
              </a:lnSpc>
              <a:spcBef>
                <a:spcPts val="340"/>
              </a:spcBef>
            </a:pPr>
            <a:r>
              <a:rPr sz="6050" spc="100" dirty="0"/>
              <a:t>SYSTEM </a:t>
            </a:r>
            <a:r>
              <a:rPr sz="6050" spc="135" dirty="0"/>
              <a:t>ARCHITECTURE</a:t>
            </a:r>
            <a:endParaRPr sz="6050"/>
          </a:p>
        </p:txBody>
      </p:sp>
      <p:sp>
        <p:nvSpPr>
          <p:cNvPr id="9" name="object 9"/>
          <p:cNvSpPr txBox="1"/>
          <p:nvPr/>
        </p:nvSpPr>
        <p:spPr>
          <a:xfrm>
            <a:off x="133235" y="2204059"/>
            <a:ext cx="60337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sz="1700" spc="-125" dirty="0">
                <a:solidFill>
                  <a:srgbClr val="171616"/>
                </a:solidFill>
                <a:latin typeface="Arial Black"/>
                <a:cs typeface="Arial Black"/>
              </a:rPr>
              <a:t>The</a:t>
            </a:r>
            <a:r>
              <a:rPr sz="17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Stored</a:t>
            </a:r>
            <a:r>
              <a:rPr sz="17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Procedure</a:t>
            </a:r>
            <a:r>
              <a:rPr sz="17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70" dirty="0">
                <a:solidFill>
                  <a:srgbClr val="171616"/>
                </a:solidFill>
                <a:latin typeface="Arial Black"/>
                <a:cs typeface="Arial Black"/>
              </a:rPr>
              <a:t>Documenter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125" dirty="0">
                <a:solidFill>
                  <a:srgbClr val="171616"/>
                </a:solidFill>
                <a:latin typeface="Arial Black"/>
                <a:cs typeface="Arial Black"/>
              </a:rPr>
              <a:t>is</a:t>
            </a:r>
            <a:r>
              <a:rPr sz="17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30" dirty="0">
                <a:solidFill>
                  <a:srgbClr val="171616"/>
                </a:solidFill>
                <a:latin typeface="Arial Black"/>
                <a:cs typeface="Arial Black"/>
              </a:rPr>
              <a:t>built</a:t>
            </a:r>
            <a:r>
              <a:rPr sz="17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45" dirty="0">
                <a:solidFill>
                  <a:srgbClr val="171616"/>
                </a:solidFill>
                <a:latin typeface="Arial Black"/>
                <a:cs typeface="Arial Black"/>
              </a:rPr>
              <a:t>on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110" dirty="0">
                <a:solidFill>
                  <a:srgbClr val="171616"/>
                </a:solidFill>
                <a:latin typeface="Arial Black"/>
                <a:cs typeface="Arial Black"/>
              </a:rPr>
              <a:t>a</a:t>
            </a:r>
            <a:r>
              <a:rPr sz="17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10" dirty="0">
                <a:solidFill>
                  <a:srgbClr val="171616"/>
                </a:solidFill>
                <a:latin typeface="Arial Black"/>
                <a:cs typeface="Arial Black"/>
              </a:rPr>
              <a:t>layered </a:t>
            </a:r>
            <a:r>
              <a:rPr sz="1700" spc="-80" dirty="0">
                <a:solidFill>
                  <a:srgbClr val="171616"/>
                </a:solidFill>
                <a:latin typeface="Arial Black"/>
                <a:cs typeface="Arial Black"/>
              </a:rPr>
              <a:t>architecture</a:t>
            </a:r>
            <a:r>
              <a:rPr sz="17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30" dirty="0">
                <a:solidFill>
                  <a:srgbClr val="171616"/>
                </a:solidFill>
                <a:latin typeface="Arial Black"/>
                <a:cs typeface="Arial Black"/>
              </a:rPr>
              <a:t>that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95" dirty="0">
                <a:solidFill>
                  <a:srgbClr val="171616"/>
                </a:solidFill>
                <a:latin typeface="Arial Black"/>
                <a:cs typeface="Arial Black"/>
              </a:rPr>
              <a:t>ensures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130" dirty="0">
                <a:solidFill>
                  <a:srgbClr val="171616"/>
                </a:solidFill>
                <a:latin typeface="Arial Black"/>
                <a:cs typeface="Arial Black"/>
              </a:rPr>
              <a:t>seamless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65" dirty="0">
                <a:solidFill>
                  <a:srgbClr val="171616"/>
                </a:solidFill>
                <a:latin typeface="Arial Black"/>
                <a:cs typeface="Arial Black"/>
              </a:rPr>
              <a:t>flow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10" dirty="0">
                <a:solidFill>
                  <a:srgbClr val="171616"/>
                </a:solidFill>
                <a:latin typeface="Arial Black"/>
                <a:cs typeface="Arial Black"/>
              </a:rPr>
              <a:t>from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80" dirty="0">
                <a:solidFill>
                  <a:srgbClr val="171616"/>
                </a:solidFill>
                <a:latin typeface="Arial Black"/>
                <a:cs typeface="Arial Black"/>
              </a:rPr>
              <a:t>raw</a:t>
            </a:r>
            <a:r>
              <a:rPr sz="1700" spc="-9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25" dirty="0">
                <a:solidFill>
                  <a:srgbClr val="171616"/>
                </a:solidFill>
                <a:latin typeface="Arial Black"/>
                <a:cs typeface="Arial Black"/>
              </a:rPr>
              <a:t>SQL input</a:t>
            </a:r>
            <a:r>
              <a:rPr sz="1700" spc="-8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45" dirty="0">
                <a:solidFill>
                  <a:srgbClr val="171616"/>
                </a:solidFill>
                <a:latin typeface="Arial Black"/>
                <a:cs typeface="Arial Black"/>
              </a:rPr>
              <a:t>to</a:t>
            </a:r>
            <a:r>
              <a:rPr sz="1700" spc="-7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65" dirty="0">
                <a:solidFill>
                  <a:srgbClr val="171616"/>
                </a:solidFill>
                <a:latin typeface="Arial Black"/>
                <a:cs typeface="Arial Black"/>
              </a:rPr>
              <a:t>structured,</a:t>
            </a:r>
            <a:r>
              <a:rPr sz="1700" spc="-80" dirty="0">
                <a:solidFill>
                  <a:srgbClr val="171616"/>
                </a:solidFill>
                <a:latin typeface="Arial Black"/>
                <a:cs typeface="Arial Black"/>
              </a:rPr>
              <a:t> professional</a:t>
            </a:r>
            <a:r>
              <a:rPr sz="1700" spc="-7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10" dirty="0">
                <a:solidFill>
                  <a:srgbClr val="171616"/>
                </a:solidFill>
                <a:latin typeface="Arial Black"/>
                <a:cs typeface="Arial Black"/>
              </a:rPr>
              <a:t>Markdown </a:t>
            </a:r>
            <a:r>
              <a:rPr sz="1700" spc="-65" dirty="0">
                <a:solidFill>
                  <a:srgbClr val="171616"/>
                </a:solidFill>
                <a:latin typeface="Arial Black"/>
                <a:cs typeface="Arial Black"/>
              </a:rPr>
              <a:t>documentation</a:t>
            </a:r>
            <a:r>
              <a:rPr sz="1700" spc="-3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700" spc="-10" dirty="0">
                <a:solidFill>
                  <a:srgbClr val="171616"/>
                </a:solidFill>
                <a:latin typeface="Arial Black"/>
                <a:cs typeface="Arial Black"/>
              </a:rPr>
              <a:t>output.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94287" y="2575987"/>
            <a:ext cx="3959225" cy="10922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Input</a:t>
            </a:r>
            <a:r>
              <a:rPr sz="15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Layer</a:t>
            </a:r>
            <a:endParaRPr sz="1500">
              <a:latin typeface="Lucida Sans Unicode"/>
              <a:cs typeface="Lucida Sans Unicode"/>
            </a:endParaRPr>
          </a:p>
          <a:p>
            <a:pPr marL="12700" marR="5080">
              <a:lnSpc>
                <a:spcPct val="116700"/>
              </a:lnSpc>
            </a:pPr>
            <a:r>
              <a:rPr sz="15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Accepts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raw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SQL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stored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procedures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file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upload</a:t>
            </a:r>
            <a:r>
              <a:rPr sz="15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direct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text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input.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Validates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syntax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5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prepares</a:t>
            </a:r>
            <a:r>
              <a:rPr sz="15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5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query</a:t>
            </a:r>
            <a:r>
              <a:rPr sz="15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15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processing.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94287" y="4431869"/>
            <a:ext cx="3820160" cy="10922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5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Processing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Engine</a:t>
            </a:r>
            <a:endParaRPr sz="1500">
              <a:latin typeface="Lucida Sans Unicode"/>
              <a:cs typeface="Lucida Sans Unicode"/>
            </a:endParaRPr>
          </a:p>
          <a:p>
            <a:pPr marL="12700" marR="5080">
              <a:lnSpc>
                <a:spcPct val="116700"/>
              </a:lnSpc>
            </a:pP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Parses</a:t>
            </a:r>
            <a:r>
              <a:rPr sz="15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SQL</a:t>
            </a: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logic,</a:t>
            </a: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identifies</a:t>
            </a: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procedure </a:t>
            </a:r>
            <a:r>
              <a:rPr sz="15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structure,</a:t>
            </a:r>
            <a:r>
              <a:rPr sz="1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parameters,</a:t>
            </a:r>
            <a:r>
              <a:rPr sz="1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5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dependencies. </a:t>
            </a:r>
            <a:r>
              <a:rPr sz="15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Extracts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metadata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logical</a:t>
            </a:r>
            <a:r>
              <a:rPr sz="1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flow.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94287" y="6287753"/>
            <a:ext cx="3958590" cy="13589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5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AI</a:t>
            </a:r>
            <a:r>
              <a:rPr sz="1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Module</a:t>
            </a:r>
            <a:endParaRPr sz="1500">
              <a:latin typeface="Lucida Sans Unicode"/>
              <a:cs typeface="Lucida Sans Unicode"/>
            </a:endParaRPr>
          </a:p>
          <a:p>
            <a:pPr marL="12700" marR="5080">
              <a:lnSpc>
                <a:spcPct val="116700"/>
              </a:lnSpc>
            </a:pP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Leverages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AI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models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interpret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logic,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infer </a:t>
            </a:r>
            <a:r>
              <a:rPr sz="15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intent,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5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generate</a:t>
            </a:r>
            <a:r>
              <a:rPr sz="15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natural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language </a:t>
            </a:r>
            <a:r>
              <a:rPr sz="15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descriptions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each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procedure component.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94287" y="8143635"/>
            <a:ext cx="3975100" cy="10922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Output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Generator</a:t>
            </a:r>
            <a:endParaRPr sz="1500">
              <a:latin typeface="Lucida Sans Unicode"/>
              <a:cs typeface="Lucida Sans Unicode"/>
            </a:endParaRPr>
          </a:p>
          <a:p>
            <a:pPr marL="12700" marR="5080">
              <a:lnSpc>
                <a:spcPct val="116700"/>
              </a:lnSpc>
            </a:pP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Produces</a:t>
            </a:r>
            <a:r>
              <a:rPr sz="15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structured</a:t>
            </a:r>
            <a:r>
              <a:rPr sz="15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Markdown documentation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sz="15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summaries,</a:t>
            </a:r>
            <a:r>
              <a:rPr sz="15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parameter </a:t>
            </a:r>
            <a:r>
              <a:rPr sz="15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tables,</a:t>
            </a:r>
            <a:r>
              <a:rPr sz="15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logic</a:t>
            </a:r>
            <a:r>
              <a:rPr sz="15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flow,</a:t>
            </a:r>
            <a:r>
              <a:rPr sz="15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usage</a:t>
            </a:r>
            <a:r>
              <a:rPr sz="15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examples.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81581" y="3759238"/>
            <a:ext cx="3405504" cy="48018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950" spc="-200" dirty="0">
                <a:latin typeface="Arial Black"/>
                <a:cs typeface="Arial Black"/>
              </a:rPr>
              <a:t>SQL</a:t>
            </a:r>
            <a:r>
              <a:rPr sz="1950" spc="-135" dirty="0">
                <a:latin typeface="Arial Black"/>
                <a:cs typeface="Arial Black"/>
              </a:rPr>
              <a:t> </a:t>
            </a:r>
            <a:r>
              <a:rPr sz="1950" spc="-20" dirty="0">
                <a:latin typeface="Arial Black"/>
                <a:cs typeface="Arial Black"/>
              </a:rPr>
              <a:t>File</a:t>
            </a:r>
            <a:endParaRPr sz="1950">
              <a:latin typeface="Arial Black"/>
              <a:cs typeface="Arial Black"/>
            </a:endParaRPr>
          </a:p>
          <a:p>
            <a:pPr marR="45720" algn="ctr">
              <a:lnSpc>
                <a:spcPct val="100000"/>
              </a:lnSpc>
              <a:spcBef>
                <a:spcPts val="160"/>
              </a:spcBef>
            </a:pPr>
            <a:r>
              <a:rPr sz="2150" b="1" spc="420" dirty="0">
                <a:latin typeface="Arial"/>
                <a:cs typeface="Arial"/>
              </a:rPr>
              <a:t>↓</a:t>
            </a:r>
            <a:endParaRPr sz="2150">
              <a:latin typeface="Arial"/>
              <a:cs typeface="Arial"/>
            </a:endParaRPr>
          </a:p>
          <a:p>
            <a:pPr marL="401955" marR="394335" algn="ctr">
              <a:lnSpc>
                <a:spcPts val="2700"/>
              </a:lnSpc>
              <a:spcBef>
                <a:spcPts val="110"/>
              </a:spcBef>
            </a:pPr>
            <a:r>
              <a:rPr sz="1950" spc="-140" dirty="0">
                <a:latin typeface="Arial Black"/>
                <a:cs typeface="Arial Black"/>
              </a:rPr>
              <a:t>Code</a:t>
            </a:r>
            <a:r>
              <a:rPr sz="1950" spc="-125" dirty="0">
                <a:latin typeface="Arial Black"/>
                <a:cs typeface="Arial Black"/>
              </a:rPr>
              <a:t> </a:t>
            </a:r>
            <a:r>
              <a:rPr sz="1950" spc="-85" dirty="0">
                <a:latin typeface="Arial Black"/>
                <a:cs typeface="Arial Black"/>
              </a:rPr>
              <a:t>Walking</a:t>
            </a:r>
            <a:r>
              <a:rPr sz="1950" spc="-125" dirty="0">
                <a:latin typeface="Arial Black"/>
                <a:cs typeface="Arial Black"/>
              </a:rPr>
              <a:t> </a:t>
            </a:r>
            <a:r>
              <a:rPr sz="1950" spc="-105" dirty="0">
                <a:latin typeface="Arial Black"/>
                <a:cs typeface="Arial Black"/>
              </a:rPr>
              <a:t>Engine </a:t>
            </a:r>
            <a:r>
              <a:rPr sz="1950" spc="-135" dirty="0">
                <a:latin typeface="Arial Black"/>
                <a:cs typeface="Arial Black"/>
              </a:rPr>
              <a:t>(SQLGlot</a:t>
            </a:r>
            <a:r>
              <a:rPr sz="1950" spc="-125" dirty="0">
                <a:latin typeface="Arial Black"/>
                <a:cs typeface="Arial Black"/>
              </a:rPr>
              <a:t> </a:t>
            </a:r>
            <a:r>
              <a:rPr sz="1950" spc="-175" dirty="0">
                <a:latin typeface="Arial Black"/>
                <a:cs typeface="Arial Black"/>
              </a:rPr>
              <a:t>+</a:t>
            </a:r>
            <a:r>
              <a:rPr sz="1950" spc="-120" dirty="0">
                <a:latin typeface="Arial Black"/>
                <a:cs typeface="Arial Black"/>
              </a:rPr>
              <a:t> </a:t>
            </a:r>
            <a:r>
              <a:rPr sz="1950" spc="-10" dirty="0">
                <a:latin typeface="Arial Black"/>
                <a:cs typeface="Arial Black"/>
              </a:rPr>
              <a:t>Regex)</a:t>
            </a:r>
            <a:endParaRPr sz="1950">
              <a:latin typeface="Arial Black"/>
              <a:cs typeface="Arial Black"/>
            </a:endParaRPr>
          </a:p>
          <a:p>
            <a:pPr marR="45720" algn="ctr">
              <a:lnSpc>
                <a:spcPct val="100000"/>
              </a:lnSpc>
              <a:spcBef>
                <a:spcPts val="10"/>
              </a:spcBef>
            </a:pPr>
            <a:r>
              <a:rPr sz="2150" b="1" spc="420" dirty="0">
                <a:latin typeface="Arial"/>
                <a:cs typeface="Arial"/>
              </a:rPr>
              <a:t>↓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950" spc="-75" dirty="0">
                <a:latin typeface="Arial Black"/>
                <a:cs typeface="Arial Black"/>
              </a:rPr>
              <a:t>Metadata</a:t>
            </a:r>
            <a:r>
              <a:rPr sz="1950" spc="-120" dirty="0">
                <a:latin typeface="Arial Black"/>
                <a:cs typeface="Arial Black"/>
              </a:rPr>
              <a:t> </a:t>
            </a:r>
            <a:r>
              <a:rPr sz="1950" spc="-10" dirty="0">
                <a:latin typeface="Arial Black"/>
                <a:cs typeface="Arial Black"/>
              </a:rPr>
              <a:t>Extraction</a:t>
            </a:r>
            <a:endParaRPr sz="1950">
              <a:latin typeface="Arial Black"/>
              <a:cs typeface="Arial Black"/>
            </a:endParaRPr>
          </a:p>
          <a:p>
            <a:pPr marR="45720" algn="ctr">
              <a:lnSpc>
                <a:spcPct val="100000"/>
              </a:lnSpc>
              <a:spcBef>
                <a:spcPts val="160"/>
              </a:spcBef>
            </a:pPr>
            <a:r>
              <a:rPr sz="2150" b="1" spc="420" dirty="0">
                <a:latin typeface="Arial"/>
                <a:cs typeface="Arial"/>
              </a:rPr>
              <a:t>↓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950" spc="-60" dirty="0">
                <a:latin typeface="Arial Black"/>
                <a:cs typeface="Arial Black"/>
              </a:rPr>
              <a:t>Prompt</a:t>
            </a:r>
            <a:r>
              <a:rPr sz="1950" spc="-114" dirty="0">
                <a:latin typeface="Arial Black"/>
                <a:cs typeface="Arial Black"/>
              </a:rPr>
              <a:t> </a:t>
            </a:r>
            <a:r>
              <a:rPr sz="1950" spc="-10" dirty="0">
                <a:latin typeface="Arial Black"/>
                <a:cs typeface="Arial Black"/>
              </a:rPr>
              <a:t>Engineering</a:t>
            </a:r>
            <a:endParaRPr sz="1950">
              <a:latin typeface="Arial Black"/>
              <a:cs typeface="Arial Black"/>
            </a:endParaRPr>
          </a:p>
          <a:p>
            <a:pPr marR="45720" algn="ctr">
              <a:lnSpc>
                <a:spcPct val="100000"/>
              </a:lnSpc>
              <a:spcBef>
                <a:spcPts val="160"/>
              </a:spcBef>
            </a:pPr>
            <a:r>
              <a:rPr sz="2150" b="1" spc="420" dirty="0">
                <a:latin typeface="Arial"/>
                <a:cs typeface="Arial"/>
              </a:rPr>
              <a:t>↓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950" spc="-130" dirty="0">
                <a:latin typeface="Arial Black"/>
                <a:cs typeface="Arial Black"/>
              </a:rPr>
              <a:t>Google </a:t>
            </a:r>
            <a:r>
              <a:rPr sz="1950" spc="-85" dirty="0">
                <a:latin typeface="Arial Black"/>
                <a:cs typeface="Arial Black"/>
              </a:rPr>
              <a:t>Gemini</a:t>
            </a:r>
            <a:r>
              <a:rPr sz="1950" spc="-130" dirty="0">
                <a:latin typeface="Arial Black"/>
                <a:cs typeface="Arial Black"/>
              </a:rPr>
              <a:t> </a:t>
            </a:r>
            <a:r>
              <a:rPr sz="1950" spc="-25" dirty="0">
                <a:latin typeface="Arial Black"/>
                <a:cs typeface="Arial Black"/>
              </a:rPr>
              <a:t>AI</a:t>
            </a:r>
            <a:endParaRPr sz="1950">
              <a:latin typeface="Arial Black"/>
              <a:cs typeface="Arial Black"/>
            </a:endParaRPr>
          </a:p>
          <a:p>
            <a:pPr marR="45720" algn="ctr">
              <a:lnSpc>
                <a:spcPct val="100000"/>
              </a:lnSpc>
              <a:spcBef>
                <a:spcPts val="160"/>
              </a:spcBef>
            </a:pPr>
            <a:r>
              <a:rPr sz="2150" b="1" spc="420" dirty="0">
                <a:latin typeface="Arial"/>
                <a:cs typeface="Arial"/>
              </a:rPr>
              <a:t>↓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950" spc="-65" dirty="0">
                <a:latin typeface="Arial Black"/>
                <a:cs typeface="Arial Black"/>
              </a:rPr>
              <a:t>Markdown</a:t>
            </a:r>
            <a:r>
              <a:rPr sz="1950" spc="-90" dirty="0">
                <a:latin typeface="Arial Black"/>
                <a:cs typeface="Arial Black"/>
              </a:rPr>
              <a:t> </a:t>
            </a:r>
            <a:r>
              <a:rPr sz="1950" spc="-50" dirty="0">
                <a:latin typeface="Arial Black"/>
                <a:cs typeface="Arial Black"/>
              </a:rPr>
              <a:t>Documentation</a:t>
            </a:r>
            <a:endParaRPr sz="1950">
              <a:latin typeface="Arial Black"/>
              <a:cs typeface="Arial Black"/>
            </a:endParaRPr>
          </a:p>
          <a:p>
            <a:pPr marR="45720" algn="ctr">
              <a:lnSpc>
                <a:spcPct val="100000"/>
              </a:lnSpc>
              <a:spcBef>
                <a:spcPts val="160"/>
              </a:spcBef>
            </a:pPr>
            <a:r>
              <a:rPr sz="2150" b="1" spc="420" dirty="0">
                <a:latin typeface="Arial"/>
                <a:cs typeface="Arial"/>
              </a:rPr>
              <a:t>↓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950" spc="-110" dirty="0">
                <a:latin typeface="Arial Black"/>
                <a:cs typeface="Arial Black"/>
              </a:rPr>
              <a:t>Preview</a:t>
            </a:r>
            <a:r>
              <a:rPr sz="1950" spc="-125" dirty="0">
                <a:latin typeface="Arial Black"/>
                <a:cs typeface="Arial Black"/>
              </a:rPr>
              <a:t> </a:t>
            </a:r>
            <a:r>
              <a:rPr sz="1950" spc="-265" dirty="0">
                <a:latin typeface="Arial Black"/>
                <a:cs typeface="Arial Black"/>
              </a:rPr>
              <a:t>&amp;</a:t>
            </a:r>
            <a:r>
              <a:rPr sz="1950" spc="-120" dirty="0">
                <a:latin typeface="Arial Black"/>
                <a:cs typeface="Arial Black"/>
              </a:rPr>
              <a:t> </a:t>
            </a:r>
            <a:r>
              <a:rPr sz="1950" spc="-10" dirty="0">
                <a:latin typeface="Arial Black"/>
                <a:cs typeface="Arial Black"/>
              </a:rPr>
              <a:t>Download</a:t>
            </a:r>
            <a:endParaRPr sz="195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2276" y="8902738"/>
            <a:ext cx="5144135" cy="692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73430">
              <a:lnSpc>
                <a:spcPct val="106800"/>
              </a:lnSpc>
              <a:spcBef>
                <a:spcPts val="105"/>
              </a:spcBef>
            </a:pPr>
            <a:r>
              <a:rPr sz="1950" spc="-120" dirty="0">
                <a:latin typeface="Arial Black"/>
                <a:cs typeface="Arial Black"/>
              </a:rPr>
              <a:t>Code-</a:t>
            </a:r>
            <a:r>
              <a:rPr sz="1950" spc="-85" dirty="0">
                <a:latin typeface="Arial Black"/>
                <a:cs typeface="Arial Black"/>
              </a:rPr>
              <a:t>Walking</a:t>
            </a:r>
            <a:r>
              <a:rPr sz="1950" spc="-120" dirty="0">
                <a:latin typeface="Arial Black"/>
                <a:cs typeface="Arial Black"/>
              </a:rPr>
              <a:t> </a:t>
            </a:r>
            <a:r>
              <a:rPr sz="1950" spc="-190" dirty="0">
                <a:latin typeface="Arial Black"/>
                <a:cs typeface="Arial Black"/>
              </a:rPr>
              <a:t>RAG</a:t>
            </a:r>
            <a:r>
              <a:rPr sz="1950" spc="-114" dirty="0">
                <a:latin typeface="Arial Black"/>
                <a:cs typeface="Arial Black"/>
              </a:rPr>
              <a:t> </a:t>
            </a:r>
            <a:r>
              <a:rPr sz="1950" spc="-10" dirty="0">
                <a:latin typeface="Arial Black"/>
                <a:cs typeface="Arial Black"/>
              </a:rPr>
              <a:t>Approach </a:t>
            </a:r>
            <a:r>
              <a:rPr sz="1950" spc="-95" dirty="0">
                <a:latin typeface="Arial Black"/>
                <a:cs typeface="Arial Black"/>
              </a:rPr>
              <a:t>Retrieval</a:t>
            </a:r>
            <a:r>
              <a:rPr sz="1950" spc="-100" dirty="0">
                <a:latin typeface="Arial Black"/>
                <a:cs typeface="Arial Black"/>
              </a:rPr>
              <a:t> </a:t>
            </a:r>
            <a:r>
              <a:rPr sz="2150" b="1" spc="-70" dirty="0">
                <a:latin typeface="Arial"/>
                <a:cs typeface="Arial"/>
              </a:rPr>
              <a:t>→</a:t>
            </a:r>
            <a:r>
              <a:rPr sz="2150" b="1" spc="-165" dirty="0">
                <a:latin typeface="Arial"/>
                <a:cs typeface="Arial"/>
              </a:rPr>
              <a:t> </a:t>
            </a:r>
            <a:r>
              <a:rPr sz="1950" spc="-80" dirty="0">
                <a:latin typeface="Arial Black"/>
                <a:cs typeface="Arial Black"/>
              </a:rPr>
              <a:t>Augmentation</a:t>
            </a:r>
            <a:r>
              <a:rPr sz="1950" spc="-95" dirty="0">
                <a:latin typeface="Arial Black"/>
                <a:cs typeface="Arial Black"/>
              </a:rPr>
              <a:t> </a:t>
            </a:r>
            <a:r>
              <a:rPr sz="2150" b="1" spc="-70" dirty="0">
                <a:latin typeface="Arial"/>
                <a:cs typeface="Arial"/>
              </a:rPr>
              <a:t>→</a:t>
            </a:r>
            <a:r>
              <a:rPr sz="2150" b="1" spc="-170" dirty="0">
                <a:latin typeface="Arial"/>
                <a:cs typeface="Arial"/>
              </a:rPr>
              <a:t> </a:t>
            </a:r>
            <a:r>
              <a:rPr sz="1950" spc="-50" dirty="0">
                <a:latin typeface="Arial Black"/>
                <a:cs typeface="Arial Black"/>
              </a:rPr>
              <a:t>Generation</a:t>
            </a:r>
            <a:endParaRPr sz="1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81072" y="1023937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6926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824" y="894397"/>
            <a:ext cx="8029574" cy="44386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74663" y="9478622"/>
            <a:ext cx="3397885" cy="697230"/>
          </a:xfrm>
          <a:custGeom>
            <a:avLst/>
            <a:gdLst/>
            <a:ahLst/>
            <a:cxnLst/>
            <a:rect l="l" t="t" r="r" b="b"/>
            <a:pathLst>
              <a:path w="3397884" h="697229">
                <a:moveTo>
                  <a:pt x="3397457" y="696914"/>
                </a:moveTo>
                <a:lnTo>
                  <a:pt x="0" y="696914"/>
                </a:lnTo>
                <a:lnTo>
                  <a:pt x="0" y="0"/>
                </a:lnTo>
                <a:lnTo>
                  <a:pt x="3397457" y="0"/>
                </a:lnTo>
                <a:lnTo>
                  <a:pt x="3397457" y="696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752717" y="867652"/>
            <a:ext cx="8877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16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011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0561" y="8907781"/>
            <a:ext cx="169037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Stored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Procedure Documenter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131300" y="205161"/>
            <a:ext cx="4969510" cy="155956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5980"/>
              </a:lnSpc>
              <a:spcBef>
                <a:spcPts val="320"/>
              </a:spcBef>
            </a:pPr>
            <a:r>
              <a:rPr sz="5050" spc="80" dirty="0">
                <a:solidFill>
                  <a:srgbClr val="FFFFFF"/>
                </a:solidFill>
              </a:rPr>
              <a:t>MAIN.PY</a:t>
            </a:r>
            <a:r>
              <a:rPr sz="5050" spc="10" dirty="0">
                <a:solidFill>
                  <a:srgbClr val="FFFFFF"/>
                </a:solidFill>
              </a:rPr>
              <a:t> </a:t>
            </a:r>
            <a:r>
              <a:rPr sz="5050" spc="-20" dirty="0">
                <a:solidFill>
                  <a:srgbClr val="FFFFFF"/>
                </a:solidFill>
              </a:rPr>
              <a:t>(CLI </a:t>
            </a:r>
            <a:r>
              <a:rPr sz="5050" spc="55" dirty="0">
                <a:solidFill>
                  <a:srgbClr val="FFFFFF"/>
                </a:solidFill>
              </a:rPr>
              <a:t>APPLICATION)</a:t>
            </a:r>
            <a:endParaRPr sz="5050"/>
          </a:p>
        </p:txBody>
      </p:sp>
      <p:sp>
        <p:nvSpPr>
          <p:cNvPr id="9" name="object 9"/>
          <p:cNvSpPr txBox="1"/>
          <p:nvPr/>
        </p:nvSpPr>
        <p:spPr>
          <a:xfrm>
            <a:off x="9131300" y="1940660"/>
            <a:ext cx="5511165" cy="7874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Purpose:</a:t>
            </a:r>
            <a:endParaRPr sz="2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2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Command-</a:t>
            </a:r>
            <a:r>
              <a:rPr sz="2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Line</a:t>
            </a:r>
            <a:r>
              <a:rPr sz="22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Documentation</a:t>
            </a:r>
            <a:r>
              <a:rPr sz="22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Generator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31300" y="3083660"/>
            <a:ext cx="3602354" cy="38354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00" spc="-40" dirty="0">
                <a:solidFill>
                  <a:srgbClr val="FFFFFF"/>
                </a:solidFill>
                <a:latin typeface="Arial Black"/>
                <a:cs typeface="Arial Black"/>
              </a:rPr>
              <a:t>Functions:</a:t>
            </a:r>
            <a:endParaRPr sz="2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walk_sql_code()</a:t>
            </a:r>
            <a:endParaRPr sz="2200">
              <a:latin typeface="Lucida Sans Unicode"/>
              <a:cs typeface="Lucida Sans Unicode"/>
            </a:endParaRPr>
          </a:p>
          <a:p>
            <a:pPr marL="189230" indent="-188595">
              <a:lnSpc>
                <a:spcPct val="100000"/>
              </a:lnSpc>
              <a:spcBef>
                <a:spcPts val="360"/>
              </a:spcBef>
              <a:buChar char="•"/>
              <a:tabLst>
                <a:tab pos="189230" algn="l"/>
              </a:tabLst>
            </a:pP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Parses</a:t>
            </a:r>
            <a:r>
              <a:rPr sz="22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SQL</a:t>
            </a:r>
            <a:endParaRPr sz="2200">
              <a:latin typeface="Lucida Sans Unicode"/>
              <a:cs typeface="Lucida Sans Unicode"/>
            </a:endParaRPr>
          </a:p>
          <a:p>
            <a:pPr marL="12700" marR="1056005" indent="-12065">
              <a:lnSpc>
                <a:spcPct val="113599"/>
              </a:lnSpc>
              <a:buChar char="•"/>
              <a:tabLst>
                <a:tab pos="189230" algn="l"/>
              </a:tabLst>
            </a:pPr>
            <a:r>
              <a:rPr sz="22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	Extracts</a:t>
            </a:r>
            <a:r>
              <a:rPr sz="22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metadata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generate_docs()</a:t>
            </a:r>
            <a:endParaRPr sz="2200">
              <a:latin typeface="Lucida Sans Unicode"/>
              <a:cs typeface="Lucida Sans Unicode"/>
            </a:endParaRPr>
          </a:p>
          <a:p>
            <a:pPr marL="189230" indent="-188595">
              <a:lnSpc>
                <a:spcPct val="100000"/>
              </a:lnSpc>
              <a:spcBef>
                <a:spcPts val="360"/>
              </a:spcBef>
              <a:buChar char="•"/>
              <a:tabLst>
                <a:tab pos="189230" algn="l"/>
              </a:tabLst>
            </a:pPr>
            <a:r>
              <a:rPr sz="22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Builds</a:t>
            </a:r>
            <a:r>
              <a:rPr sz="2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prompt</a:t>
            </a:r>
            <a:endParaRPr sz="2200">
              <a:latin typeface="Lucida Sans Unicode"/>
              <a:cs typeface="Lucida Sans Unicode"/>
            </a:endParaRPr>
          </a:p>
          <a:p>
            <a:pPr marL="12700" marR="1473835" indent="-12065">
              <a:lnSpc>
                <a:spcPct val="113599"/>
              </a:lnSpc>
              <a:buChar char="•"/>
              <a:tabLst>
                <a:tab pos="189230" algn="l"/>
              </a:tabLst>
            </a:pPr>
            <a:r>
              <a:rPr sz="22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	Calls</a:t>
            </a:r>
            <a:r>
              <a:rPr sz="22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Gemini</a:t>
            </a:r>
            <a:r>
              <a:rPr sz="22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AI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main()</a:t>
            </a:r>
            <a:endParaRPr sz="2200">
              <a:latin typeface="Lucida Sans Unicode"/>
              <a:cs typeface="Lucida Sans Unicode"/>
            </a:endParaRPr>
          </a:p>
          <a:p>
            <a:pPr marL="189230" indent="-188595">
              <a:lnSpc>
                <a:spcPct val="100000"/>
              </a:lnSpc>
              <a:spcBef>
                <a:spcPts val="360"/>
              </a:spcBef>
              <a:buChar char="•"/>
              <a:tabLst>
                <a:tab pos="189230" algn="l"/>
              </a:tabLst>
            </a:pPr>
            <a:r>
              <a:rPr sz="2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Reads</a:t>
            </a:r>
            <a:r>
              <a:rPr sz="22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SQL</a:t>
            </a:r>
            <a:r>
              <a:rPr sz="22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files</a:t>
            </a:r>
            <a:endParaRPr sz="2200">
              <a:latin typeface="Lucida Sans Unicode"/>
              <a:cs typeface="Lucida Sans Unicode"/>
            </a:endParaRPr>
          </a:p>
          <a:p>
            <a:pPr marL="189230" indent="-188595">
              <a:lnSpc>
                <a:spcPct val="100000"/>
              </a:lnSpc>
              <a:spcBef>
                <a:spcPts val="360"/>
              </a:spcBef>
              <a:buChar char="•"/>
              <a:tabLst>
                <a:tab pos="189230" algn="l"/>
              </a:tabLst>
            </a:pP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Generates</a:t>
            </a:r>
            <a:r>
              <a:rPr sz="22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Markdown</a:t>
            </a:r>
            <a:r>
              <a:rPr sz="22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files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31300" y="7274659"/>
            <a:ext cx="3279775" cy="19304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00" spc="-35" dirty="0">
                <a:solidFill>
                  <a:srgbClr val="FFFFFF"/>
                </a:solidFill>
                <a:latin typeface="Arial Black"/>
                <a:cs typeface="Arial Black"/>
              </a:rPr>
              <a:t>Features:</a:t>
            </a:r>
            <a:endParaRPr sz="2200">
              <a:latin typeface="Arial Black"/>
              <a:cs typeface="Arial Black"/>
            </a:endParaRPr>
          </a:p>
          <a:p>
            <a:pPr marL="189230" indent="-188595">
              <a:lnSpc>
                <a:spcPct val="100000"/>
              </a:lnSpc>
              <a:spcBef>
                <a:spcPts val="360"/>
              </a:spcBef>
              <a:buChar char="•"/>
              <a:tabLst>
                <a:tab pos="189230" algn="l"/>
              </a:tabLst>
            </a:pP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Batch</a:t>
            </a:r>
            <a:r>
              <a:rPr sz="22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Processing</a:t>
            </a:r>
            <a:endParaRPr sz="2200">
              <a:latin typeface="Lucida Sans Unicode"/>
              <a:cs typeface="Lucida Sans Unicode"/>
            </a:endParaRPr>
          </a:p>
          <a:p>
            <a:pPr marL="189230" indent="-188595">
              <a:lnSpc>
                <a:spcPct val="100000"/>
              </a:lnSpc>
              <a:spcBef>
                <a:spcPts val="360"/>
              </a:spcBef>
              <a:buChar char="•"/>
              <a:tabLst>
                <a:tab pos="189230" algn="l"/>
              </a:tabLst>
            </a:pPr>
            <a:r>
              <a:rPr sz="2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Retry</a:t>
            </a:r>
            <a:r>
              <a:rPr sz="22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Logic</a:t>
            </a:r>
            <a:endParaRPr sz="2200">
              <a:latin typeface="Lucida Sans Unicode"/>
              <a:cs typeface="Lucida Sans Unicode"/>
            </a:endParaRPr>
          </a:p>
          <a:p>
            <a:pPr marL="189230" indent="-188595">
              <a:lnSpc>
                <a:spcPct val="100000"/>
              </a:lnSpc>
              <a:spcBef>
                <a:spcPts val="360"/>
              </a:spcBef>
              <a:buChar char="•"/>
              <a:tabLst>
                <a:tab pos="189230" algn="l"/>
              </a:tabLst>
            </a:pPr>
            <a:r>
              <a:rPr sz="22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Automatic</a:t>
            </a:r>
            <a:r>
              <a:rPr sz="22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File</a:t>
            </a:r>
            <a:r>
              <a:rPr sz="22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Handling</a:t>
            </a:r>
            <a:endParaRPr sz="2200">
              <a:latin typeface="Lucida Sans Unicode"/>
              <a:cs typeface="Lucida Sans Unicode"/>
            </a:endParaRPr>
          </a:p>
          <a:p>
            <a:pPr marL="189230" indent="-188595">
              <a:lnSpc>
                <a:spcPct val="100000"/>
              </a:lnSpc>
              <a:spcBef>
                <a:spcPts val="360"/>
              </a:spcBef>
              <a:buChar char="•"/>
              <a:tabLst>
                <a:tab pos="189230" algn="l"/>
              </a:tabLst>
            </a:pPr>
            <a:r>
              <a:rPr sz="2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Output</a:t>
            </a:r>
            <a:r>
              <a:rPr sz="22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Generation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6655" y="5847443"/>
            <a:ext cx="653478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0" dirty="0">
                <a:solidFill>
                  <a:srgbClr val="FFFFFF"/>
                </a:solidFill>
                <a:latin typeface="Lucida Sans Unicode"/>
                <a:cs typeface="Lucida Sans Unicode"/>
                <a:hlinkClick r:id="rId3"/>
              </a:rPr>
              <a:t>https://github.com/Bheemuni-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3"/>
              </a:rPr>
              <a:t>Mahesh/StoredProcedureDocumenter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5769" y="6399893"/>
            <a:ext cx="3925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20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16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Github</a:t>
            </a:r>
            <a:r>
              <a:rPr sz="16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repository(Access</a:t>
            </a:r>
            <a:r>
              <a:rPr sz="16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6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code</a:t>
            </a:r>
            <a:r>
              <a:rPr sz="16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here)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B91CB-3305-BF42-5E69-F1C7230B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52500"/>
            <a:ext cx="17199366" cy="1000274"/>
          </a:xfrm>
        </p:spPr>
        <p:txBody>
          <a:bodyPr/>
          <a:lstStyle/>
          <a:p>
            <a:r>
              <a:rPr lang="en-IN" dirty="0"/>
              <a:t>               </a:t>
            </a:r>
            <a:r>
              <a:rPr lang="en-IN" dirty="0">
                <a:highlight>
                  <a:srgbClr val="C0C0C0"/>
                </a:highlight>
              </a:rPr>
              <a:t>CODE-WALKING 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24842-5913-5365-E880-7C55616A9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328989"/>
            <a:ext cx="10287000" cy="689419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AI Capability Demonstrated</a:t>
            </a:r>
          </a:p>
          <a:p>
            <a:r>
              <a:rPr lang="en-IN" dirty="0">
                <a:solidFill>
                  <a:schemeClr val="tx1"/>
                </a:solidFill>
              </a:rPr>
              <a:t>Code-Walking Retrieval Augmented Generation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 Extracted:</a:t>
            </a:r>
          </a:p>
          <a:p>
            <a: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  <a:t>• Procedure Name</a:t>
            </a:r>
            <a:b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  <a:t>• Parameters</a:t>
            </a:r>
            <a:b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  <a:t>• Tables Accessed</a:t>
            </a:r>
            <a:b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  <a:t>• SQL Operations</a:t>
            </a:r>
            <a:b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  <a:t>• WHERE Conditions</a:t>
            </a:r>
            <a:b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  <a:t>• Error Handling</a:t>
            </a:r>
            <a:b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  <a:t>• Transactions</a:t>
            </a:r>
            <a:b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3600" dirty="0">
                <a:solidFill>
                  <a:schemeClr val="tx1"/>
                </a:solidFill>
                <a:latin typeface="Aptos" panose="020B0004020202020204" pitchFamily="34" charset="0"/>
              </a:rPr>
              <a:t>• Return Values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6AAC1-D501-0FF2-4207-0D282696B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652866"/>
            <a:ext cx="8108157" cy="424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06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81072" y="1023937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6926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40" y="4672111"/>
            <a:ext cx="7200899" cy="36671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40" y="602199"/>
            <a:ext cx="7362824" cy="3200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752717" y="867652"/>
            <a:ext cx="8877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16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011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940" y="9646451"/>
            <a:ext cx="169037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Stored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Procedure Documenter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714988" y="137322"/>
            <a:ext cx="6614159" cy="11861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4520"/>
              </a:lnSpc>
              <a:spcBef>
                <a:spcPts val="295"/>
              </a:spcBef>
            </a:pPr>
            <a:r>
              <a:rPr sz="3850" spc="170" dirty="0">
                <a:solidFill>
                  <a:srgbClr val="FFFFFF"/>
                </a:solidFill>
              </a:rPr>
              <a:t>APP.PY</a:t>
            </a:r>
            <a:r>
              <a:rPr sz="3850" spc="75" dirty="0">
                <a:solidFill>
                  <a:srgbClr val="FFFFFF"/>
                </a:solidFill>
              </a:rPr>
              <a:t> </a:t>
            </a:r>
            <a:r>
              <a:rPr sz="3850" dirty="0">
                <a:solidFill>
                  <a:srgbClr val="FFFFFF"/>
                </a:solidFill>
              </a:rPr>
              <a:t>(STREAMLIT</a:t>
            </a:r>
            <a:r>
              <a:rPr sz="3850" spc="75" dirty="0">
                <a:solidFill>
                  <a:srgbClr val="FFFFFF"/>
                </a:solidFill>
              </a:rPr>
              <a:t> </a:t>
            </a:r>
            <a:r>
              <a:rPr sz="3850" spc="310" dirty="0">
                <a:solidFill>
                  <a:srgbClr val="FFFFFF"/>
                </a:solidFill>
              </a:rPr>
              <a:t>WEB </a:t>
            </a:r>
            <a:r>
              <a:rPr sz="3850" spc="-10" dirty="0">
                <a:solidFill>
                  <a:srgbClr val="FFFFFF"/>
                </a:solidFill>
              </a:rPr>
              <a:t>APPLICATION)</a:t>
            </a:r>
            <a:endParaRPr sz="3850"/>
          </a:p>
        </p:txBody>
      </p:sp>
      <p:sp>
        <p:nvSpPr>
          <p:cNvPr id="9" name="object 9"/>
          <p:cNvSpPr txBox="1"/>
          <p:nvPr/>
        </p:nvSpPr>
        <p:spPr>
          <a:xfrm>
            <a:off x="7806530" y="1569999"/>
            <a:ext cx="6915150" cy="71501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350" spc="-10" dirty="0">
                <a:solidFill>
                  <a:srgbClr val="FFFFFF"/>
                </a:solidFill>
                <a:latin typeface="Arial Black"/>
                <a:cs typeface="Arial Black"/>
              </a:rPr>
              <a:t>Purpose:</a:t>
            </a:r>
            <a:endParaRPr sz="23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3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Interactive</a:t>
            </a:r>
            <a:r>
              <a:rPr sz="23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sz="23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Interface</a:t>
            </a:r>
            <a:endParaRPr sz="23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350" spc="-20" dirty="0">
                <a:solidFill>
                  <a:srgbClr val="FFFFFF"/>
                </a:solidFill>
                <a:latin typeface="Arial Black"/>
                <a:cs typeface="Arial Black"/>
              </a:rPr>
              <a:t>Features:</a:t>
            </a:r>
            <a:endParaRPr sz="2350">
              <a:latin typeface="Arial Black"/>
              <a:cs typeface="Arial Black"/>
            </a:endParaRPr>
          </a:p>
          <a:p>
            <a:pPr marL="203200" indent="-201930">
              <a:lnSpc>
                <a:spcPct val="100000"/>
              </a:lnSpc>
              <a:spcBef>
                <a:spcPts val="480"/>
              </a:spcBef>
              <a:buChar char="•"/>
              <a:tabLst>
                <a:tab pos="203200" algn="l"/>
              </a:tabLst>
            </a:pPr>
            <a:r>
              <a:rPr sz="2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Upload</a:t>
            </a:r>
            <a:r>
              <a:rPr sz="235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Multiple</a:t>
            </a:r>
            <a:r>
              <a:rPr sz="235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FFFFFF"/>
                </a:solidFill>
                <a:latin typeface="Lucida Sans Unicode"/>
                <a:cs typeface="Lucida Sans Unicode"/>
              </a:rPr>
              <a:t>SQL</a:t>
            </a:r>
            <a:r>
              <a:rPr sz="235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Files</a:t>
            </a:r>
            <a:endParaRPr sz="2350">
              <a:latin typeface="Lucida Sans Unicode"/>
              <a:cs typeface="Lucida Sans Unicode"/>
            </a:endParaRPr>
          </a:p>
          <a:p>
            <a:pPr marL="203200" indent="-201930">
              <a:lnSpc>
                <a:spcPct val="100000"/>
              </a:lnSpc>
              <a:spcBef>
                <a:spcPts val="480"/>
              </a:spcBef>
              <a:buChar char="•"/>
              <a:tabLst>
                <a:tab pos="203200" algn="l"/>
              </a:tabLst>
            </a:pPr>
            <a:r>
              <a:rPr sz="235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sz="23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sz="23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Processing</a:t>
            </a:r>
            <a:endParaRPr sz="2350">
              <a:latin typeface="Lucida Sans Unicode"/>
              <a:cs typeface="Lucida Sans Unicode"/>
            </a:endParaRPr>
          </a:p>
          <a:p>
            <a:pPr marL="203200" indent="-201930">
              <a:lnSpc>
                <a:spcPct val="100000"/>
              </a:lnSpc>
              <a:spcBef>
                <a:spcPts val="480"/>
              </a:spcBef>
              <a:buChar char="•"/>
              <a:tabLst>
                <a:tab pos="203200" algn="l"/>
              </a:tabLst>
            </a:pPr>
            <a:r>
              <a:rPr sz="23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Documentation</a:t>
            </a:r>
            <a:r>
              <a:rPr sz="235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Preview</a:t>
            </a:r>
            <a:endParaRPr sz="2350">
              <a:latin typeface="Lucida Sans Unicode"/>
              <a:cs typeface="Lucida Sans Unicode"/>
            </a:endParaRPr>
          </a:p>
          <a:p>
            <a:pPr marL="203200" indent="-201930">
              <a:lnSpc>
                <a:spcPct val="100000"/>
              </a:lnSpc>
              <a:spcBef>
                <a:spcPts val="480"/>
              </a:spcBef>
              <a:buChar char="•"/>
              <a:tabLst>
                <a:tab pos="203200" algn="l"/>
              </a:tabLst>
            </a:pPr>
            <a:r>
              <a:rPr sz="23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Download</a:t>
            </a:r>
            <a:r>
              <a:rPr sz="235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Button</a:t>
            </a:r>
            <a:endParaRPr sz="2350">
              <a:latin typeface="Lucida Sans Unicode"/>
              <a:cs typeface="Lucida Sans Unicode"/>
            </a:endParaRPr>
          </a:p>
          <a:p>
            <a:pPr marL="203200" indent="-201930">
              <a:lnSpc>
                <a:spcPct val="100000"/>
              </a:lnSpc>
              <a:spcBef>
                <a:spcPts val="480"/>
              </a:spcBef>
              <a:buChar char="•"/>
              <a:tabLst>
                <a:tab pos="203200" algn="l"/>
              </a:tabLst>
            </a:pPr>
            <a:r>
              <a:rPr sz="23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Progress</a:t>
            </a:r>
            <a:r>
              <a:rPr sz="235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Tracking</a:t>
            </a:r>
            <a:endParaRPr sz="2350">
              <a:latin typeface="Lucida Sans Unicode"/>
              <a:cs typeface="Lucida Sans Unicode"/>
            </a:endParaRPr>
          </a:p>
          <a:p>
            <a:pPr marL="203200" indent="-201930">
              <a:lnSpc>
                <a:spcPct val="100000"/>
              </a:lnSpc>
              <a:spcBef>
                <a:spcPts val="480"/>
              </a:spcBef>
              <a:buChar char="•"/>
              <a:tabLst>
                <a:tab pos="203200" algn="l"/>
              </a:tabLst>
            </a:pPr>
            <a:r>
              <a:rPr sz="2350" dirty="0">
                <a:solidFill>
                  <a:srgbClr val="FFFFFF"/>
                </a:solidFill>
                <a:latin typeface="Lucida Sans Unicode"/>
                <a:cs typeface="Lucida Sans Unicode"/>
              </a:rPr>
              <a:t>API</a:t>
            </a:r>
            <a:r>
              <a:rPr sz="235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Key</a:t>
            </a:r>
            <a:r>
              <a:rPr sz="235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Input</a:t>
            </a:r>
            <a:endParaRPr sz="2350">
              <a:latin typeface="Lucida Sans Unicode"/>
              <a:cs typeface="Lucida Sans Unicode"/>
            </a:endParaRPr>
          </a:p>
          <a:p>
            <a:pPr marL="203200" indent="-201930">
              <a:lnSpc>
                <a:spcPct val="100000"/>
              </a:lnSpc>
              <a:spcBef>
                <a:spcPts val="480"/>
              </a:spcBef>
              <a:buChar char="•"/>
              <a:tabLst>
                <a:tab pos="203200" algn="l"/>
              </a:tabLst>
            </a:pPr>
            <a:r>
              <a:rPr sz="23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Professional</a:t>
            </a:r>
            <a:r>
              <a:rPr sz="23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Dashboard</a:t>
            </a:r>
            <a:endParaRPr sz="23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350" spc="-10" dirty="0">
                <a:solidFill>
                  <a:srgbClr val="FFFFFF"/>
                </a:solidFill>
                <a:latin typeface="Arial Black"/>
                <a:cs typeface="Arial Black"/>
              </a:rPr>
              <a:t>Deployment:</a:t>
            </a:r>
            <a:endParaRPr sz="23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3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Streamlit</a:t>
            </a:r>
            <a:r>
              <a:rPr sz="235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Cloud</a:t>
            </a:r>
            <a:endParaRPr sz="23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350" spc="-145" dirty="0">
                <a:solidFill>
                  <a:srgbClr val="FFFFFF"/>
                </a:solidFill>
                <a:latin typeface="Arial Black"/>
                <a:cs typeface="Arial Black"/>
              </a:rPr>
              <a:t>Live</a:t>
            </a:r>
            <a:r>
              <a:rPr sz="23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Arial Black"/>
                <a:cs typeface="Arial Black"/>
              </a:rPr>
              <a:t>Demo:</a:t>
            </a:r>
            <a:endParaRPr sz="23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350" u="heavy" spc="-1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Lucida Sans Unicode"/>
                <a:cs typeface="Lucida Sans Unicode"/>
                <a:hlinkClick r:id="rId4"/>
              </a:rPr>
              <a:t>https://sql-</a:t>
            </a:r>
            <a:r>
              <a:rPr sz="2350" u="heavy" spc="-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Lucida Sans Unicode"/>
                <a:cs typeface="Lucida Sans Unicode"/>
                <a:hlinkClick r:id="rId4"/>
              </a:rPr>
              <a:t>procedure-</a:t>
            </a:r>
            <a:r>
              <a:rPr sz="2350" u="heavy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Lucida Sans Unicode"/>
                <a:cs typeface="Lucida Sans Unicode"/>
                <a:hlinkClick r:id="rId4"/>
              </a:rPr>
              <a:t>documenter.streamlit.app/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74663" y="9478622"/>
            <a:ext cx="3397885" cy="6972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0660" rIns="0" bIns="0" rtlCol="0">
            <a:spAutoFit/>
          </a:bodyPr>
          <a:lstStyle/>
          <a:p>
            <a:pPr marL="601980">
              <a:lnSpc>
                <a:spcPct val="100000"/>
              </a:lnSpc>
              <a:spcBef>
                <a:spcPts val="1580"/>
              </a:spcBef>
            </a:pPr>
            <a:r>
              <a:rPr sz="1800" spc="-220" dirty="0">
                <a:solidFill>
                  <a:srgbClr val="171616"/>
                </a:solidFill>
                <a:latin typeface="Arial Black"/>
                <a:cs typeface="Arial Black"/>
              </a:rPr>
              <a:t>EXPLORE</a:t>
            </a:r>
            <a:r>
              <a:rPr sz="1800" spc="-11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1800" spc="-120" dirty="0">
                <a:solidFill>
                  <a:srgbClr val="171616"/>
                </a:solidFill>
                <a:latin typeface="Arial Black"/>
                <a:cs typeface="Arial Black"/>
              </a:rPr>
              <a:t>FEATURES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51DE-97F2-1593-662C-19CB69E3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7" y="-42885"/>
            <a:ext cx="7615843" cy="1376386"/>
          </a:xfrm>
        </p:spPr>
        <p:txBody>
          <a:bodyPr/>
          <a:lstStyle/>
          <a:p>
            <a:r>
              <a:rPr lang="en-IN" sz="5400" dirty="0"/>
              <a:t>SAMPLE INPUT &amp;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A7819-1A8A-9EC0-199C-DC5CEB2CE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316" y="1485901"/>
            <a:ext cx="6008884" cy="9879628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Input:</a:t>
            </a:r>
          </a:p>
          <a:p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CREATE PROCEDURE </a:t>
            </a:r>
            <a:r>
              <a:rPr lang="en-IN" sz="2800" dirty="0" err="1">
                <a:solidFill>
                  <a:schemeClr val="tx1"/>
                </a:solidFill>
                <a:latin typeface="Aptos" panose="020B0004020202020204" pitchFamily="34" charset="0"/>
              </a:rPr>
              <a:t>GetEmployee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@EmployeeId INT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AS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BEGIN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SELECT *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FROM Employees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WHERE </a:t>
            </a:r>
            <a:r>
              <a:rPr lang="en-IN" sz="2800" dirty="0" err="1">
                <a:solidFill>
                  <a:schemeClr val="tx1"/>
                </a:solidFill>
                <a:latin typeface="Aptos" panose="020B0004020202020204" pitchFamily="34" charset="0"/>
              </a:rPr>
              <a:t>EmployeeId</a:t>
            </a: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=@EmployeeId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END</a:t>
            </a:r>
          </a:p>
          <a:p>
            <a:endParaRPr lang="en-IN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IN" dirty="0">
                <a:solidFill>
                  <a:schemeClr val="tx1"/>
                </a:solidFill>
              </a:rPr>
              <a:t>Output:</a:t>
            </a:r>
          </a:p>
          <a:p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Purpose: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Retrieves employee information.</a:t>
            </a:r>
          </a:p>
          <a:p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Inputs: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@EmployeeId</a:t>
            </a:r>
          </a:p>
          <a:p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Outputs: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Employee details</a:t>
            </a:r>
          </a:p>
          <a:p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Sample Call:</a:t>
            </a:r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EXEC </a:t>
            </a:r>
            <a:r>
              <a:rPr lang="en-IN" sz="2800" dirty="0" err="1">
                <a:solidFill>
                  <a:schemeClr val="tx1"/>
                </a:solidFill>
                <a:latin typeface="Aptos" panose="020B0004020202020204" pitchFamily="34" charset="0"/>
              </a:rPr>
              <a:t>GetEmployee</a:t>
            </a:r>
            <a: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  <a:t> 101</a:t>
            </a:r>
          </a:p>
          <a:p>
            <a:br>
              <a:rPr lang="en-IN" sz="2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IN" sz="2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BEC36F-C8D0-ACC9-9F1C-4485C8EBA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79" y="2019300"/>
            <a:ext cx="8305474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BE46ED-F712-E706-5FD3-66A728451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16" y="6419570"/>
            <a:ext cx="8458200" cy="325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88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4744" y="0"/>
            <a:ext cx="7323255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752717" y="864552"/>
            <a:ext cx="7531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135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007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195706"/>
            <a:ext cx="4653915" cy="133667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5100"/>
              </a:lnSpc>
              <a:spcBef>
                <a:spcPts val="320"/>
              </a:spcBef>
            </a:pPr>
            <a:r>
              <a:rPr sz="4350" spc="100" dirty="0"/>
              <a:t>TECHNOLOGIES </a:t>
            </a:r>
            <a:r>
              <a:rPr sz="4350" spc="160" dirty="0"/>
              <a:t>USED</a:t>
            </a:r>
            <a:endParaRPr sz="4350"/>
          </a:p>
        </p:txBody>
      </p:sp>
      <p:sp>
        <p:nvSpPr>
          <p:cNvPr id="5" name="object 5"/>
          <p:cNvSpPr txBox="1"/>
          <p:nvPr/>
        </p:nvSpPr>
        <p:spPr>
          <a:xfrm>
            <a:off x="1963773" y="1708137"/>
            <a:ext cx="4042410" cy="84201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100" spc="-10" dirty="0">
                <a:solidFill>
                  <a:srgbClr val="171616"/>
                </a:solidFill>
                <a:latin typeface="Arial Black"/>
                <a:cs typeface="Arial Black"/>
              </a:rPr>
              <a:t>Python</a:t>
            </a:r>
            <a:endParaRPr sz="2100">
              <a:latin typeface="Arial Black"/>
              <a:cs typeface="Arial Black"/>
            </a:endParaRPr>
          </a:p>
          <a:p>
            <a:pPr marL="180340" indent="-177800">
              <a:lnSpc>
                <a:spcPct val="100000"/>
              </a:lnSpc>
              <a:spcBef>
                <a:spcPts val="355"/>
              </a:spcBef>
              <a:buSzPct val="97619"/>
              <a:buChar char="•"/>
              <a:tabLst>
                <a:tab pos="180340" algn="l"/>
              </a:tabLst>
            </a:pPr>
            <a:r>
              <a:rPr sz="2100" spc="-55" dirty="0">
                <a:solidFill>
                  <a:srgbClr val="171616"/>
                </a:solidFill>
                <a:latin typeface="Lucida Sans Unicode"/>
                <a:cs typeface="Lucida Sans Unicode"/>
              </a:rPr>
              <a:t>Core</a:t>
            </a:r>
            <a:r>
              <a:rPr sz="210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60" dirty="0">
                <a:solidFill>
                  <a:srgbClr val="171616"/>
                </a:solidFill>
                <a:latin typeface="Lucida Sans Unicode"/>
                <a:cs typeface="Lucida Sans Unicode"/>
              </a:rPr>
              <a:t>programming</a:t>
            </a:r>
            <a:r>
              <a:rPr sz="2100" spc="-10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language</a:t>
            </a: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225"/>
              </a:spcBef>
            </a:pPr>
            <a:r>
              <a:rPr sz="2100" spc="-10" dirty="0">
                <a:solidFill>
                  <a:srgbClr val="171616"/>
                </a:solidFill>
                <a:latin typeface="Arial Black"/>
                <a:cs typeface="Arial Black"/>
              </a:rPr>
              <a:t>Streamlit</a:t>
            </a:r>
            <a:endParaRPr sz="2100">
              <a:latin typeface="Arial Black"/>
              <a:cs typeface="Arial Black"/>
            </a:endParaRPr>
          </a:p>
          <a:p>
            <a:pPr marL="180340" indent="-177800">
              <a:lnSpc>
                <a:spcPct val="100000"/>
              </a:lnSpc>
              <a:spcBef>
                <a:spcPts val="355"/>
              </a:spcBef>
              <a:buSzPct val="97619"/>
              <a:buChar char="•"/>
              <a:tabLst>
                <a:tab pos="180340" algn="l"/>
              </a:tabLst>
            </a:pPr>
            <a:r>
              <a:rPr sz="210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Interactive</a:t>
            </a:r>
            <a:r>
              <a:rPr sz="2100" spc="-8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171616"/>
                </a:solidFill>
                <a:latin typeface="Lucida Sans Unicode"/>
                <a:cs typeface="Lucida Sans Unicode"/>
              </a:rPr>
              <a:t>Web</a:t>
            </a:r>
            <a:r>
              <a:rPr sz="2100" spc="-8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Application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buClr>
                <a:srgbClr val="171616"/>
              </a:buClr>
              <a:buFont typeface="Lucida Sans Unicode"/>
              <a:buChar char="•"/>
            </a:pP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100" spc="-30" dirty="0">
                <a:solidFill>
                  <a:srgbClr val="171616"/>
                </a:solidFill>
                <a:latin typeface="Arial Black"/>
                <a:cs typeface="Arial Black"/>
              </a:rPr>
              <a:t>SQLGlot</a:t>
            </a:r>
            <a:endParaRPr sz="2100">
              <a:latin typeface="Arial Black"/>
              <a:cs typeface="Arial Black"/>
            </a:endParaRPr>
          </a:p>
          <a:p>
            <a:pPr marL="180340" indent="-177800">
              <a:lnSpc>
                <a:spcPct val="100000"/>
              </a:lnSpc>
              <a:spcBef>
                <a:spcPts val="355"/>
              </a:spcBef>
              <a:buSzPct val="97619"/>
              <a:buChar char="•"/>
              <a:tabLst>
                <a:tab pos="180340" algn="l"/>
              </a:tabLst>
            </a:pP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SQL</a:t>
            </a:r>
            <a:r>
              <a:rPr sz="2100" spc="-13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Parsing</a:t>
            </a:r>
            <a:r>
              <a:rPr sz="2100" spc="-12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55" dirty="0">
                <a:solidFill>
                  <a:srgbClr val="171616"/>
                </a:solidFill>
                <a:latin typeface="Lucida Sans Unicode"/>
                <a:cs typeface="Lucida Sans Unicode"/>
              </a:rPr>
              <a:t>&amp;</a:t>
            </a:r>
            <a:r>
              <a:rPr sz="2100" spc="-13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Validation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buClr>
                <a:srgbClr val="171616"/>
              </a:buClr>
              <a:buFont typeface="Lucida Sans Unicode"/>
              <a:buChar char="•"/>
            </a:pP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100" spc="-20" dirty="0">
                <a:solidFill>
                  <a:srgbClr val="171616"/>
                </a:solidFill>
                <a:latin typeface="Arial Black"/>
                <a:cs typeface="Arial Black"/>
              </a:rPr>
              <a:t>Regex</a:t>
            </a:r>
            <a:endParaRPr sz="2100">
              <a:latin typeface="Arial Black"/>
              <a:cs typeface="Arial Black"/>
            </a:endParaRPr>
          </a:p>
          <a:p>
            <a:pPr marL="180340" indent="-177800">
              <a:lnSpc>
                <a:spcPct val="100000"/>
              </a:lnSpc>
              <a:spcBef>
                <a:spcPts val="355"/>
              </a:spcBef>
              <a:buSzPct val="97619"/>
              <a:buChar char="•"/>
              <a:tabLst>
                <a:tab pos="180340" algn="l"/>
              </a:tabLst>
            </a:pPr>
            <a:r>
              <a:rPr sz="210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Metadata</a:t>
            </a:r>
            <a:r>
              <a:rPr sz="2100" spc="-10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Extraction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buClr>
                <a:srgbClr val="171616"/>
              </a:buClr>
              <a:buFont typeface="Lucida Sans Unicode"/>
              <a:buChar char="•"/>
            </a:pP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100" spc="-165" dirty="0">
                <a:solidFill>
                  <a:srgbClr val="171616"/>
                </a:solidFill>
                <a:latin typeface="Arial Black"/>
                <a:cs typeface="Arial Black"/>
              </a:rPr>
              <a:t>Google</a:t>
            </a:r>
            <a:r>
              <a:rPr sz="2100" spc="-12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2100" spc="-114" dirty="0">
                <a:solidFill>
                  <a:srgbClr val="171616"/>
                </a:solidFill>
                <a:latin typeface="Arial Black"/>
                <a:cs typeface="Arial Black"/>
              </a:rPr>
              <a:t>Gemini</a:t>
            </a:r>
            <a:r>
              <a:rPr sz="2100" spc="-12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2100" spc="-25" dirty="0">
                <a:solidFill>
                  <a:srgbClr val="171616"/>
                </a:solidFill>
                <a:latin typeface="Arial Black"/>
                <a:cs typeface="Arial Black"/>
              </a:rPr>
              <a:t>AI</a:t>
            </a:r>
            <a:endParaRPr sz="2100">
              <a:latin typeface="Arial Black"/>
              <a:cs typeface="Arial Black"/>
            </a:endParaRPr>
          </a:p>
          <a:p>
            <a:pPr marL="180340" indent="-177800">
              <a:lnSpc>
                <a:spcPct val="100000"/>
              </a:lnSpc>
              <a:spcBef>
                <a:spcPts val="355"/>
              </a:spcBef>
              <a:buSzPct val="97619"/>
              <a:buChar char="•"/>
              <a:tabLst>
                <a:tab pos="180340" algn="l"/>
              </a:tabLst>
            </a:pPr>
            <a:r>
              <a:rPr sz="210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Documentation</a:t>
            </a:r>
            <a:r>
              <a:rPr sz="210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Generation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buClr>
                <a:srgbClr val="171616"/>
              </a:buClr>
              <a:buFont typeface="Lucida Sans Unicode"/>
              <a:buChar char="•"/>
            </a:pP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100" spc="-10" dirty="0">
                <a:solidFill>
                  <a:srgbClr val="171616"/>
                </a:solidFill>
                <a:latin typeface="Arial Black"/>
                <a:cs typeface="Arial Black"/>
              </a:rPr>
              <a:t>Markdown</a:t>
            </a:r>
            <a:endParaRPr sz="2100">
              <a:latin typeface="Arial Black"/>
              <a:cs typeface="Arial Black"/>
            </a:endParaRPr>
          </a:p>
          <a:p>
            <a:pPr marL="180340" indent="-177800">
              <a:lnSpc>
                <a:spcPct val="100000"/>
              </a:lnSpc>
              <a:spcBef>
                <a:spcPts val="355"/>
              </a:spcBef>
              <a:buSzPct val="97619"/>
              <a:buChar char="•"/>
              <a:tabLst>
                <a:tab pos="180340" algn="l"/>
              </a:tabLst>
            </a:pPr>
            <a:r>
              <a:rPr sz="2100" spc="-45" dirty="0">
                <a:solidFill>
                  <a:srgbClr val="171616"/>
                </a:solidFill>
                <a:latin typeface="Lucida Sans Unicode"/>
                <a:cs typeface="Lucida Sans Unicode"/>
              </a:rPr>
              <a:t>Output</a:t>
            </a:r>
            <a:r>
              <a:rPr sz="2100" spc="-8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Documentation</a:t>
            </a:r>
            <a:r>
              <a:rPr sz="2100" spc="-75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Format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buClr>
                <a:srgbClr val="171616"/>
              </a:buClr>
              <a:buFont typeface="Lucida Sans Unicode"/>
              <a:buChar char="•"/>
            </a:pP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100" spc="-120" dirty="0">
                <a:solidFill>
                  <a:srgbClr val="171616"/>
                </a:solidFill>
                <a:latin typeface="Arial Black"/>
                <a:cs typeface="Arial Black"/>
              </a:rPr>
              <a:t>Git</a:t>
            </a:r>
            <a:r>
              <a:rPr sz="2100" spc="-160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2100" spc="-300" dirty="0">
                <a:solidFill>
                  <a:srgbClr val="171616"/>
                </a:solidFill>
                <a:latin typeface="Arial Black"/>
                <a:cs typeface="Arial Black"/>
              </a:rPr>
              <a:t>&amp;</a:t>
            </a:r>
            <a:r>
              <a:rPr sz="2100" spc="-15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Arial Black"/>
                <a:cs typeface="Arial Black"/>
              </a:rPr>
              <a:t>GitHub</a:t>
            </a:r>
            <a:endParaRPr sz="2100">
              <a:latin typeface="Arial Black"/>
              <a:cs typeface="Arial Black"/>
            </a:endParaRPr>
          </a:p>
          <a:p>
            <a:pPr marL="180340" indent="-177800">
              <a:lnSpc>
                <a:spcPct val="100000"/>
              </a:lnSpc>
              <a:spcBef>
                <a:spcPts val="355"/>
              </a:spcBef>
              <a:buSzPct val="97619"/>
              <a:buChar char="•"/>
              <a:tabLst>
                <a:tab pos="180340" algn="l"/>
              </a:tabLst>
            </a:pPr>
            <a:r>
              <a:rPr sz="2100" spc="-60" dirty="0">
                <a:solidFill>
                  <a:srgbClr val="171616"/>
                </a:solidFill>
                <a:latin typeface="Lucida Sans Unicode"/>
                <a:cs typeface="Lucida Sans Unicode"/>
              </a:rPr>
              <a:t>Version</a:t>
            </a:r>
            <a:r>
              <a:rPr sz="2100" spc="-12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Control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buClr>
                <a:srgbClr val="171616"/>
              </a:buClr>
              <a:buFont typeface="Lucida Sans Unicode"/>
              <a:buChar char="•"/>
            </a:pP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100" spc="-114" dirty="0">
                <a:solidFill>
                  <a:srgbClr val="171616"/>
                </a:solidFill>
                <a:latin typeface="Arial Black"/>
                <a:cs typeface="Arial Black"/>
              </a:rPr>
              <a:t>Streamlit</a:t>
            </a:r>
            <a:r>
              <a:rPr sz="2100" spc="-95" dirty="0">
                <a:solidFill>
                  <a:srgbClr val="171616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Arial Black"/>
                <a:cs typeface="Arial Black"/>
              </a:rPr>
              <a:t>Cloud</a:t>
            </a:r>
            <a:endParaRPr sz="2100">
              <a:latin typeface="Arial Black"/>
              <a:cs typeface="Arial Black"/>
            </a:endParaRPr>
          </a:p>
          <a:p>
            <a:pPr marL="180340" indent="-177800">
              <a:lnSpc>
                <a:spcPct val="100000"/>
              </a:lnSpc>
              <a:spcBef>
                <a:spcPts val="355"/>
              </a:spcBef>
              <a:buSzPct val="97619"/>
              <a:buChar char="•"/>
              <a:tabLst>
                <a:tab pos="180340" algn="l"/>
              </a:tabLst>
            </a:pPr>
            <a:r>
              <a:rPr sz="2100" spc="-50" dirty="0">
                <a:solidFill>
                  <a:srgbClr val="171616"/>
                </a:solidFill>
                <a:latin typeface="Lucida Sans Unicode"/>
                <a:cs typeface="Lucida Sans Unicode"/>
              </a:rPr>
              <a:t>Deployment</a:t>
            </a:r>
            <a:r>
              <a:rPr sz="2100" spc="-8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171616"/>
                </a:solidFill>
                <a:latin typeface="Lucida Sans Unicode"/>
                <a:cs typeface="Lucida Sans Unicode"/>
              </a:rPr>
              <a:t>Platform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81072" y="1023937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6926" y="0"/>
                </a:lnTo>
              </a:path>
            </a:pathLst>
          </a:custGeom>
          <a:ln w="9524">
            <a:solidFill>
              <a:srgbClr val="17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20646" y="4757079"/>
            <a:ext cx="4467224" cy="55299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2102051"/>
            <a:ext cx="4248149" cy="45758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52717" y="872588"/>
            <a:ext cx="8318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Page</a:t>
            </a:r>
            <a:r>
              <a:rPr sz="1500" spc="-75" dirty="0">
                <a:solidFill>
                  <a:srgbClr val="171616"/>
                </a:solidFill>
                <a:latin typeface="Lucida Sans Unicode"/>
                <a:cs typeface="Lucida Sans Unicode"/>
              </a:rPr>
              <a:t> 010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30225" marR="5080" indent="240029">
              <a:lnSpc>
                <a:spcPts val="7650"/>
              </a:lnSpc>
              <a:spcBef>
                <a:spcPts val="340"/>
              </a:spcBef>
            </a:pPr>
            <a:r>
              <a:rPr spc="300" dirty="0"/>
              <a:t>ADVANTAGES</a:t>
            </a:r>
            <a:r>
              <a:rPr spc="-15" dirty="0"/>
              <a:t> </a:t>
            </a:r>
            <a:r>
              <a:rPr spc="-50" dirty="0"/>
              <a:t>&amp; </a:t>
            </a:r>
            <a:r>
              <a:rPr spc="-10" dirty="0"/>
              <a:t>LIMITATIONS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3236" y="2723080"/>
            <a:ext cx="8451215" cy="6704330"/>
          </a:xfrm>
          <a:prstGeom prst="rect">
            <a:avLst/>
          </a:prstGeom>
          <a:solidFill>
            <a:srgbClr val="171616"/>
          </a:solidFill>
        </p:spPr>
        <p:txBody>
          <a:bodyPr vert="horz" wrap="square" lIns="0" tIns="419734" rIns="0" bIns="0" rtlCol="0">
            <a:spAutoFit/>
          </a:bodyPr>
          <a:lstStyle/>
          <a:p>
            <a:pPr marR="433705" algn="ctr">
              <a:lnSpc>
                <a:spcPct val="100000"/>
              </a:lnSpc>
              <a:spcBef>
                <a:spcPts val="3304"/>
              </a:spcBef>
            </a:pPr>
            <a:r>
              <a:rPr sz="4150" spc="-150" dirty="0">
                <a:solidFill>
                  <a:srgbClr val="52D0A6"/>
                </a:solidFill>
                <a:latin typeface="Arial Black"/>
                <a:cs typeface="Arial Black"/>
              </a:rPr>
              <a:t>Advantages</a:t>
            </a:r>
            <a:endParaRPr sz="4150">
              <a:latin typeface="Arial Black"/>
              <a:cs typeface="Arial Black"/>
            </a:endParaRPr>
          </a:p>
          <a:p>
            <a:pPr marL="3343910" indent="-170815">
              <a:lnSpc>
                <a:spcPct val="100000"/>
              </a:lnSpc>
              <a:spcBef>
                <a:spcPts val="685"/>
              </a:spcBef>
              <a:buChar char="•"/>
              <a:tabLst>
                <a:tab pos="3343910" algn="l"/>
              </a:tabLst>
            </a:pPr>
            <a:r>
              <a:rPr sz="2100" spc="-200" dirty="0">
                <a:solidFill>
                  <a:srgbClr val="FFFFFF"/>
                </a:solidFill>
                <a:latin typeface="Arial Black"/>
                <a:cs typeface="Arial Black"/>
              </a:rPr>
              <a:t>Saves</a:t>
            </a:r>
            <a:r>
              <a:rPr sz="21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Black"/>
                <a:cs typeface="Arial Black"/>
              </a:rPr>
              <a:t>Time</a:t>
            </a:r>
            <a:endParaRPr sz="2100">
              <a:latin typeface="Arial Black"/>
              <a:cs typeface="Arial Black"/>
            </a:endParaRPr>
          </a:p>
          <a:p>
            <a:pPr marL="2593975" indent="-170815">
              <a:lnSpc>
                <a:spcPct val="100000"/>
              </a:lnSpc>
              <a:spcBef>
                <a:spcPts val="450"/>
              </a:spcBef>
              <a:buChar char="•"/>
              <a:tabLst>
                <a:tab pos="2593975" algn="l"/>
              </a:tabLst>
            </a:pPr>
            <a:r>
              <a:rPr sz="2100" spc="-180" dirty="0">
                <a:solidFill>
                  <a:srgbClr val="FFFFFF"/>
                </a:solidFill>
                <a:latin typeface="Arial Black"/>
                <a:cs typeface="Arial Black"/>
              </a:rPr>
              <a:t>Reduces</a:t>
            </a:r>
            <a:r>
              <a:rPr sz="21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Arial Black"/>
                <a:cs typeface="Arial Black"/>
              </a:rPr>
              <a:t>Manual</a:t>
            </a:r>
            <a:r>
              <a:rPr sz="21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Black"/>
                <a:cs typeface="Arial Black"/>
              </a:rPr>
              <a:t>Work</a:t>
            </a:r>
            <a:endParaRPr sz="2100">
              <a:latin typeface="Arial Black"/>
              <a:cs typeface="Arial Black"/>
            </a:endParaRPr>
          </a:p>
          <a:p>
            <a:pPr marL="2390775" indent="-170815">
              <a:lnSpc>
                <a:spcPct val="100000"/>
              </a:lnSpc>
              <a:spcBef>
                <a:spcPts val="450"/>
              </a:spcBef>
              <a:buChar char="•"/>
              <a:tabLst>
                <a:tab pos="2390775" algn="l"/>
              </a:tabLst>
            </a:pPr>
            <a:r>
              <a:rPr sz="2100" spc="-105" dirty="0">
                <a:solidFill>
                  <a:srgbClr val="FFFFFF"/>
                </a:solidFill>
                <a:latin typeface="Arial Black"/>
                <a:cs typeface="Arial Black"/>
              </a:rPr>
              <a:t>Improves</a:t>
            </a:r>
            <a:r>
              <a:rPr sz="21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Black"/>
                <a:cs typeface="Arial Black"/>
              </a:rPr>
              <a:t>Maintainability</a:t>
            </a:r>
            <a:endParaRPr sz="2100">
              <a:latin typeface="Arial Black"/>
              <a:cs typeface="Arial Black"/>
            </a:endParaRPr>
          </a:p>
          <a:p>
            <a:pPr marL="2311400" indent="-170815">
              <a:lnSpc>
                <a:spcPct val="100000"/>
              </a:lnSpc>
              <a:spcBef>
                <a:spcPts val="450"/>
              </a:spcBef>
              <a:buChar char="•"/>
              <a:tabLst>
                <a:tab pos="2311400" algn="l"/>
              </a:tabLst>
            </a:pPr>
            <a:r>
              <a:rPr sz="2100" spc="-110" dirty="0">
                <a:solidFill>
                  <a:srgbClr val="FFFFFF"/>
                </a:solidFill>
                <a:latin typeface="Arial Black"/>
                <a:cs typeface="Arial Black"/>
              </a:rPr>
              <a:t>AI-</a:t>
            </a:r>
            <a:r>
              <a:rPr sz="2100" spc="-160" dirty="0">
                <a:solidFill>
                  <a:srgbClr val="FFFFFF"/>
                </a:solidFill>
                <a:latin typeface="Arial Black"/>
                <a:cs typeface="Arial Black"/>
              </a:rPr>
              <a:t>Assisted</a:t>
            </a:r>
            <a:r>
              <a:rPr sz="21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Black"/>
                <a:cs typeface="Arial Black"/>
              </a:rPr>
              <a:t>Understanding</a:t>
            </a:r>
            <a:endParaRPr sz="2100">
              <a:latin typeface="Arial Black"/>
              <a:cs typeface="Arial Black"/>
            </a:endParaRPr>
          </a:p>
          <a:p>
            <a:pPr marL="2282190" indent="-170815">
              <a:lnSpc>
                <a:spcPct val="100000"/>
              </a:lnSpc>
              <a:spcBef>
                <a:spcPts val="455"/>
              </a:spcBef>
              <a:buChar char="•"/>
              <a:tabLst>
                <a:tab pos="2282190" algn="l"/>
              </a:tabLst>
            </a:pPr>
            <a:r>
              <a:rPr sz="2100" spc="-125" dirty="0">
                <a:solidFill>
                  <a:srgbClr val="FFFFFF"/>
                </a:solidFill>
                <a:latin typeface="Arial Black"/>
                <a:cs typeface="Arial Black"/>
              </a:rPr>
              <a:t>Consistent</a:t>
            </a:r>
            <a:r>
              <a:rPr sz="21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Black"/>
                <a:cs typeface="Arial Black"/>
              </a:rPr>
              <a:t>Documentation</a:t>
            </a:r>
            <a:endParaRPr sz="2100">
              <a:latin typeface="Arial Black"/>
              <a:cs typeface="Arial Black"/>
            </a:endParaRPr>
          </a:p>
          <a:p>
            <a:pPr marL="3328035" lvl="1" indent="-170815">
              <a:lnSpc>
                <a:spcPct val="100000"/>
              </a:lnSpc>
              <a:spcBef>
                <a:spcPts val="450"/>
              </a:spcBef>
              <a:buChar char="•"/>
              <a:tabLst>
                <a:tab pos="3328035" algn="l"/>
              </a:tabLst>
            </a:pPr>
            <a:r>
              <a:rPr sz="2100" spc="-204" dirty="0">
                <a:solidFill>
                  <a:srgbClr val="FFFFFF"/>
                </a:solidFill>
                <a:latin typeface="Arial Black"/>
                <a:cs typeface="Arial Black"/>
              </a:rPr>
              <a:t>Easy</a:t>
            </a:r>
            <a:r>
              <a:rPr sz="21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21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Black"/>
                <a:cs typeface="Arial Black"/>
              </a:rPr>
              <a:t>Use</a:t>
            </a:r>
            <a:endParaRPr sz="2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100">
              <a:latin typeface="Arial Black"/>
              <a:cs typeface="Arial Black"/>
            </a:endParaRPr>
          </a:p>
          <a:p>
            <a:pPr marR="433705" algn="ctr">
              <a:lnSpc>
                <a:spcPct val="100000"/>
              </a:lnSpc>
            </a:pPr>
            <a:r>
              <a:rPr sz="4150" spc="-80" dirty="0">
                <a:solidFill>
                  <a:srgbClr val="FF3131"/>
                </a:solidFill>
                <a:latin typeface="Arial Black"/>
                <a:cs typeface="Arial Black"/>
              </a:rPr>
              <a:t>Limitations</a:t>
            </a:r>
            <a:endParaRPr sz="4150">
              <a:latin typeface="Arial Black"/>
              <a:cs typeface="Arial Black"/>
            </a:endParaRPr>
          </a:p>
          <a:p>
            <a:pPr marL="2524125" indent="-170815">
              <a:lnSpc>
                <a:spcPct val="100000"/>
              </a:lnSpc>
              <a:spcBef>
                <a:spcPts val="685"/>
              </a:spcBef>
              <a:buChar char="•"/>
              <a:tabLst>
                <a:tab pos="2524125" algn="l"/>
              </a:tabLst>
            </a:pPr>
            <a:r>
              <a:rPr sz="2100" spc="-120" dirty="0">
                <a:solidFill>
                  <a:srgbClr val="FFFFFF"/>
                </a:solidFill>
                <a:latin typeface="Arial Black"/>
                <a:cs typeface="Arial Black"/>
              </a:rPr>
              <a:t>Depends</a:t>
            </a:r>
            <a:r>
              <a:rPr sz="21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Arial Black"/>
                <a:cs typeface="Arial Black"/>
              </a:rPr>
              <a:t>on</a:t>
            </a:r>
            <a:r>
              <a:rPr sz="21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Arial Black"/>
                <a:cs typeface="Arial Black"/>
              </a:rPr>
              <a:t>Gemini</a:t>
            </a:r>
            <a:r>
              <a:rPr sz="21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Black"/>
                <a:cs typeface="Arial Black"/>
              </a:rPr>
              <a:t>API</a:t>
            </a:r>
            <a:endParaRPr sz="2100">
              <a:latin typeface="Arial Black"/>
              <a:cs typeface="Arial Black"/>
            </a:endParaRPr>
          </a:p>
          <a:p>
            <a:pPr marL="2970530" lvl="1" indent="-170815">
              <a:lnSpc>
                <a:spcPct val="100000"/>
              </a:lnSpc>
              <a:spcBef>
                <a:spcPts val="450"/>
              </a:spcBef>
              <a:buChar char="•"/>
              <a:tabLst>
                <a:tab pos="2970530" algn="l"/>
              </a:tabLst>
            </a:pPr>
            <a:r>
              <a:rPr sz="2100" spc="-90" dirty="0">
                <a:solidFill>
                  <a:srgbClr val="FFFFFF"/>
                </a:solidFill>
                <a:latin typeface="Arial Black"/>
                <a:cs typeface="Arial Black"/>
              </a:rPr>
              <a:t>Daily</a:t>
            </a:r>
            <a:r>
              <a:rPr sz="21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70" dirty="0">
                <a:solidFill>
                  <a:srgbClr val="FFFFFF"/>
                </a:solidFill>
                <a:latin typeface="Arial Black"/>
                <a:cs typeface="Arial Black"/>
              </a:rPr>
              <a:t>API</a:t>
            </a:r>
            <a:r>
              <a:rPr sz="21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Black"/>
                <a:cs typeface="Arial Black"/>
              </a:rPr>
              <a:t>Quotas</a:t>
            </a:r>
            <a:endParaRPr sz="2100">
              <a:latin typeface="Arial Black"/>
              <a:cs typeface="Arial Black"/>
            </a:endParaRPr>
          </a:p>
          <a:p>
            <a:pPr marL="2574925" indent="-170815">
              <a:lnSpc>
                <a:spcPct val="100000"/>
              </a:lnSpc>
              <a:spcBef>
                <a:spcPts val="450"/>
              </a:spcBef>
              <a:buChar char="•"/>
              <a:tabLst>
                <a:tab pos="2574925" algn="l"/>
              </a:tabLst>
            </a:pPr>
            <a:r>
              <a:rPr sz="2100" spc="-114" dirty="0">
                <a:solidFill>
                  <a:srgbClr val="FFFFFF"/>
                </a:solidFill>
                <a:latin typeface="Arial Black"/>
                <a:cs typeface="Arial Black"/>
              </a:rPr>
              <a:t>Supports</a:t>
            </a:r>
            <a:r>
              <a:rPr sz="21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Arial Black"/>
                <a:cs typeface="Arial Black"/>
              </a:rPr>
              <a:t>mainly</a:t>
            </a:r>
            <a:r>
              <a:rPr sz="21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65" dirty="0">
                <a:solidFill>
                  <a:srgbClr val="FFFFFF"/>
                </a:solidFill>
                <a:latin typeface="Arial Black"/>
                <a:cs typeface="Arial Black"/>
              </a:rPr>
              <a:t>T-</a:t>
            </a:r>
            <a:r>
              <a:rPr sz="2100" spc="-25" dirty="0">
                <a:solidFill>
                  <a:srgbClr val="FFFFFF"/>
                </a:solidFill>
                <a:latin typeface="Arial Black"/>
                <a:cs typeface="Arial Black"/>
              </a:rPr>
              <a:t>SQL</a:t>
            </a:r>
            <a:endParaRPr sz="2100">
              <a:latin typeface="Arial Black"/>
              <a:cs typeface="Arial Black"/>
            </a:endParaRPr>
          </a:p>
          <a:p>
            <a:pPr marL="1864995" indent="-170815">
              <a:lnSpc>
                <a:spcPct val="100000"/>
              </a:lnSpc>
              <a:spcBef>
                <a:spcPts val="450"/>
              </a:spcBef>
              <a:buChar char="•"/>
              <a:tabLst>
                <a:tab pos="1864995" algn="l"/>
              </a:tabLst>
            </a:pPr>
            <a:r>
              <a:rPr sz="2100" spc="-135" dirty="0">
                <a:solidFill>
                  <a:srgbClr val="FFFFFF"/>
                </a:solidFill>
                <a:latin typeface="Arial Black"/>
                <a:cs typeface="Arial Black"/>
              </a:rPr>
              <a:t>Complex</a:t>
            </a:r>
            <a:r>
              <a:rPr sz="21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20" dirty="0">
                <a:solidFill>
                  <a:srgbClr val="FFFFFF"/>
                </a:solidFill>
                <a:latin typeface="Arial Black"/>
                <a:cs typeface="Arial Black"/>
              </a:rPr>
              <a:t>SQL</a:t>
            </a:r>
            <a:r>
              <a:rPr sz="21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Arial Black"/>
                <a:cs typeface="Arial Black"/>
              </a:rPr>
              <a:t>may</a:t>
            </a:r>
            <a:r>
              <a:rPr sz="21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Arial Black"/>
                <a:cs typeface="Arial Black"/>
              </a:rPr>
              <a:t>require</a:t>
            </a:r>
            <a:r>
              <a:rPr sz="21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Black"/>
                <a:cs typeface="Arial Black"/>
              </a:rPr>
              <a:t>review</a:t>
            </a:r>
            <a:endParaRPr sz="21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81072" y="1023937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6926" y="0"/>
                </a:lnTo>
              </a:path>
            </a:pathLst>
          </a:custGeom>
          <a:ln w="9524">
            <a:solidFill>
              <a:srgbClr val="17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966720"/>
            <a:ext cx="18288000" cy="7320280"/>
          </a:xfrm>
          <a:custGeom>
            <a:avLst/>
            <a:gdLst/>
            <a:ahLst/>
            <a:cxnLst/>
            <a:rect l="l" t="t" r="r" b="b"/>
            <a:pathLst>
              <a:path w="18288000" h="7320280">
                <a:moveTo>
                  <a:pt x="18287997" y="7319805"/>
                </a:moveTo>
                <a:lnTo>
                  <a:pt x="0" y="7319805"/>
                </a:lnTo>
                <a:lnTo>
                  <a:pt x="0" y="0"/>
                </a:lnTo>
                <a:lnTo>
                  <a:pt x="18287997" y="0"/>
                </a:lnTo>
                <a:lnTo>
                  <a:pt x="18287997" y="7319805"/>
                </a:lnTo>
                <a:close/>
              </a:path>
            </a:pathLst>
          </a:custGeom>
          <a:solidFill>
            <a:srgbClr val="17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752717" y="868569"/>
            <a:ext cx="99441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solidFill>
                  <a:srgbClr val="171616"/>
                </a:solidFill>
                <a:latin typeface="Lucida Sans Unicode"/>
                <a:cs typeface="Lucida Sans Unicode"/>
              </a:rPr>
              <a:t>Page</a:t>
            </a:r>
            <a:r>
              <a:rPr sz="1800" spc="-110" dirty="0">
                <a:solidFill>
                  <a:srgbClr val="171616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171616"/>
                </a:solidFill>
                <a:latin typeface="Lucida Sans Unicode"/>
                <a:cs typeface="Lucida Sans Unicode"/>
              </a:rPr>
              <a:t>009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544316" y="3265243"/>
            <a:ext cx="17199366" cy="668388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" marR="27940" algn="ctr">
              <a:lnSpc>
                <a:spcPct val="116900"/>
              </a:lnSpc>
              <a:spcBef>
                <a:spcPts val="90"/>
              </a:spcBef>
            </a:pPr>
            <a:r>
              <a:rPr spc="-225" dirty="0"/>
              <a:t>Successfully</a:t>
            </a:r>
            <a:r>
              <a:rPr spc="-200" dirty="0"/>
              <a:t> </a:t>
            </a:r>
            <a:r>
              <a:rPr spc="-145" dirty="0"/>
              <a:t>developed</a:t>
            </a:r>
            <a:r>
              <a:rPr spc="-195" dirty="0"/>
              <a:t> </a:t>
            </a:r>
            <a:r>
              <a:rPr spc="-100" dirty="0"/>
              <a:t>and</a:t>
            </a:r>
            <a:r>
              <a:rPr spc="-200" dirty="0"/>
              <a:t> </a:t>
            </a:r>
            <a:r>
              <a:rPr spc="-135" dirty="0"/>
              <a:t>deployed</a:t>
            </a:r>
            <a:r>
              <a:rPr spc="-195" dirty="0"/>
              <a:t> </a:t>
            </a:r>
            <a:r>
              <a:rPr spc="-105" dirty="0"/>
              <a:t>an</a:t>
            </a:r>
            <a:r>
              <a:rPr spc="-200" dirty="0"/>
              <a:t> </a:t>
            </a:r>
            <a:r>
              <a:rPr spc="-170" dirty="0"/>
              <a:t>AI-</a:t>
            </a:r>
            <a:r>
              <a:rPr spc="-145" dirty="0"/>
              <a:t>powered</a:t>
            </a:r>
            <a:r>
              <a:rPr spc="-195" dirty="0"/>
              <a:t> </a:t>
            </a:r>
            <a:r>
              <a:rPr spc="-160" dirty="0"/>
              <a:t>Stored</a:t>
            </a:r>
            <a:r>
              <a:rPr spc="-200" dirty="0"/>
              <a:t> </a:t>
            </a:r>
            <a:r>
              <a:rPr spc="-150" dirty="0"/>
              <a:t>Procedure</a:t>
            </a:r>
            <a:r>
              <a:rPr spc="-195" dirty="0"/>
              <a:t> </a:t>
            </a:r>
            <a:r>
              <a:rPr spc="-50" dirty="0"/>
              <a:t>Documentation </a:t>
            </a:r>
            <a:r>
              <a:rPr spc="-120" dirty="0"/>
              <a:t>Generator</a:t>
            </a:r>
            <a:r>
              <a:rPr spc="-195" dirty="0"/>
              <a:t> </a:t>
            </a:r>
            <a:r>
              <a:rPr spc="-160" dirty="0"/>
              <a:t>using</a:t>
            </a:r>
            <a:r>
              <a:rPr spc="-190" dirty="0"/>
              <a:t> </a:t>
            </a:r>
            <a:r>
              <a:rPr spc="-100" dirty="0"/>
              <a:t>Python,</a:t>
            </a:r>
            <a:r>
              <a:rPr spc="-190" dirty="0"/>
              <a:t> </a:t>
            </a:r>
            <a:r>
              <a:rPr spc="-210" dirty="0"/>
              <a:t>SQLGlot,</a:t>
            </a:r>
            <a:r>
              <a:rPr spc="-190" dirty="0"/>
              <a:t> </a:t>
            </a:r>
            <a:r>
              <a:rPr spc="-135" dirty="0"/>
              <a:t>Streamlit,</a:t>
            </a:r>
            <a:r>
              <a:rPr spc="-190" dirty="0"/>
              <a:t> </a:t>
            </a:r>
            <a:r>
              <a:rPr spc="-100" dirty="0"/>
              <a:t>and</a:t>
            </a:r>
            <a:r>
              <a:rPr spc="-190" dirty="0"/>
              <a:t> </a:t>
            </a:r>
            <a:r>
              <a:rPr spc="-204" dirty="0"/>
              <a:t>Google</a:t>
            </a:r>
            <a:r>
              <a:rPr spc="-190" dirty="0"/>
              <a:t> </a:t>
            </a:r>
            <a:r>
              <a:rPr spc="-140" dirty="0"/>
              <a:t>Gemini</a:t>
            </a:r>
            <a:r>
              <a:rPr spc="-190" dirty="0"/>
              <a:t> </a:t>
            </a:r>
            <a:r>
              <a:rPr spc="-25" dirty="0"/>
              <a:t>AI.</a:t>
            </a:r>
          </a:p>
          <a:p>
            <a:pPr marL="12065" marR="5080" algn="ctr">
              <a:lnSpc>
                <a:spcPct val="116900"/>
              </a:lnSpc>
              <a:spcBef>
                <a:spcPts val="5"/>
              </a:spcBef>
            </a:pPr>
            <a:r>
              <a:rPr spc="-229" dirty="0"/>
              <a:t>The</a:t>
            </a:r>
            <a:r>
              <a:rPr spc="-195" dirty="0"/>
              <a:t> </a:t>
            </a:r>
            <a:r>
              <a:rPr spc="-140" dirty="0"/>
              <a:t>project</a:t>
            </a:r>
            <a:r>
              <a:rPr spc="-195" dirty="0"/>
              <a:t> </a:t>
            </a:r>
            <a:r>
              <a:rPr spc="-130" dirty="0"/>
              <a:t>automates</a:t>
            </a:r>
            <a:r>
              <a:rPr spc="-195" dirty="0"/>
              <a:t> </a:t>
            </a:r>
            <a:r>
              <a:rPr spc="-110" dirty="0"/>
              <a:t>documentation</a:t>
            </a:r>
            <a:r>
              <a:rPr spc="-195" dirty="0"/>
              <a:t> </a:t>
            </a:r>
            <a:r>
              <a:rPr spc="-125" dirty="0"/>
              <a:t>generation,</a:t>
            </a:r>
            <a:r>
              <a:rPr spc="-195" dirty="0"/>
              <a:t> </a:t>
            </a:r>
            <a:r>
              <a:rPr spc="-190" dirty="0"/>
              <a:t>reduces</a:t>
            </a:r>
            <a:r>
              <a:rPr spc="-195" dirty="0"/>
              <a:t> </a:t>
            </a:r>
            <a:r>
              <a:rPr spc="-135" dirty="0"/>
              <a:t>developer</a:t>
            </a:r>
            <a:r>
              <a:rPr spc="-195" dirty="0"/>
              <a:t> </a:t>
            </a:r>
            <a:r>
              <a:rPr spc="-70" dirty="0"/>
              <a:t>effort,</a:t>
            </a:r>
            <a:r>
              <a:rPr spc="-195" dirty="0"/>
              <a:t> </a:t>
            </a:r>
            <a:r>
              <a:rPr spc="-20" dirty="0"/>
              <a:t>improves </a:t>
            </a:r>
            <a:r>
              <a:rPr spc="-95" dirty="0"/>
              <a:t>maintainability,</a:t>
            </a:r>
            <a:r>
              <a:rPr spc="-195" dirty="0"/>
              <a:t> </a:t>
            </a:r>
            <a:r>
              <a:rPr spc="-100" dirty="0"/>
              <a:t>and</a:t>
            </a:r>
            <a:r>
              <a:rPr spc="-195" dirty="0"/>
              <a:t> </a:t>
            </a:r>
            <a:r>
              <a:rPr spc="-135" dirty="0"/>
              <a:t>demonstrates</a:t>
            </a:r>
            <a:r>
              <a:rPr spc="-190" dirty="0"/>
              <a:t> </a:t>
            </a:r>
            <a:r>
              <a:rPr spc="-175" dirty="0"/>
              <a:t>practical</a:t>
            </a:r>
            <a:r>
              <a:rPr spc="-195" dirty="0"/>
              <a:t> </a:t>
            </a:r>
            <a:r>
              <a:rPr spc="-200" dirty="0"/>
              <a:t>use</a:t>
            </a:r>
            <a:r>
              <a:rPr spc="-195" dirty="0"/>
              <a:t> </a:t>
            </a:r>
            <a:r>
              <a:rPr spc="-70" dirty="0"/>
              <a:t>of</a:t>
            </a:r>
            <a:r>
              <a:rPr spc="-190" dirty="0"/>
              <a:t> </a:t>
            </a:r>
            <a:r>
              <a:rPr spc="-235" dirty="0"/>
              <a:t>AI</a:t>
            </a:r>
            <a:r>
              <a:rPr spc="-195" dirty="0"/>
              <a:t> </a:t>
            </a:r>
            <a:r>
              <a:rPr spc="-50" dirty="0"/>
              <a:t>in</a:t>
            </a:r>
            <a:r>
              <a:rPr spc="-195" dirty="0"/>
              <a:t> </a:t>
            </a:r>
            <a:r>
              <a:rPr spc="-145" dirty="0"/>
              <a:t>software</a:t>
            </a:r>
            <a:r>
              <a:rPr spc="-190" dirty="0"/>
              <a:t> </a:t>
            </a:r>
            <a:r>
              <a:rPr spc="-10" dirty="0"/>
              <a:t>engineering.</a:t>
            </a:r>
            <a:endParaRPr lang="en-IN" spc="-10" dirty="0"/>
          </a:p>
          <a:p>
            <a:pPr>
              <a:lnSpc>
                <a:spcPct val="100000"/>
              </a:lnSpc>
              <a:spcBef>
                <a:spcPts val="3300"/>
              </a:spcBef>
            </a:pPr>
            <a:r>
              <a:rPr lang="en-IN" sz="2400" b="1" dirty="0">
                <a:highlight>
                  <a:srgbClr val="008080"/>
                </a:highlight>
              </a:rPr>
              <a:t>KEY POINTS :</a:t>
            </a:r>
          </a:p>
          <a:p>
            <a:pPr marL="457200" indent="-457200">
              <a:lnSpc>
                <a:spcPct val="100000"/>
              </a:lnSpc>
              <a:spcBef>
                <a:spcPts val="330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Provides both CLI and Web-based interfaces for ease of use.</a:t>
            </a:r>
          </a:p>
          <a:p>
            <a:pPr marL="457200" indent="-457200">
              <a:lnSpc>
                <a:spcPct val="100000"/>
              </a:lnSpc>
              <a:spcBef>
                <a:spcPts val="330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Demonstrates the practical use of AI in software engineering and database management.</a:t>
            </a:r>
          </a:p>
          <a:p>
            <a:pPr marL="457200" indent="-457200">
              <a:lnSpc>
                <a:spcPct val="100000"/>
              </a:lnSpc>
              <a:spcBef>
                <a:spcPts val="330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 Can be extended with additional database support and advanced documentation features in the future.</a:t>
            </a:r>
          </a:p>
          <a:p>
            <a:pPr marL="457200" indent="-457200">
              <a:lnSpc>
                <a:spcPct val="100000"/>
              </a:lnSpc>
              <a:spcBef>
                <a:spcPts val="3300"/>
              </a:spcBef>
              <a:buFont typeface="Arial" panose="020B0604020202020204" pitchFamily="34" charset="0"/>
              <a:buChar char="•"/>
            </a:pPr>
            <a:endParaRPr sz="2400" spc="-10" dirty="0"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035884" y="486426"/>
            <a:ext cx="5915025" cy="101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50" dirty="0"/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9962-7557-4399-B830-06FFC366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-42886"/>
            <a:ext cx="12492644" cy="2000548"/>
          </a:xfrm>
        </p:spPr>
        <p:txBody>
          <a:bodyPr/>
          <a:lstStyle/>
          <a:p>
            <a:r>
              <a:rPr lang="en-IN" dirty="0"/>
              <a:t>Presented to</a:t>
            </a:r>
            <a:br>
              <a:rPr lang="en-IN" dirty="0"/>
            </a:br>
            <a:r>
              <a:rPr lang="en-IN" dirty="0">
                <a:solidFill>
                  <a:schemeClr val="tx2"/>
                </a:solidFill>
              </a:rPr>
              <a:t>Infinite Computer 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D5027-303A-98FD-7710-ED6D620BD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5276" y="0"/>
            <a:ext cx="2209800" cy="2209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C82DC8-07EC-61EE-FEDB-54EC32592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687489"/>
            <a:ext cx="7467600" cy="491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10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CCC6-36B1-AE03-081A-6D32F31D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952500"/>
            <a:ext cx="16988444" cy="4001095"/>
          </a:xfrm>
        </p:spPr>
        <p:txBody>
          <a:bodyPr/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                     ANY QUESTIONS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07901-FE5F-B5BA-0626-349AD24CB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316" y="6057899"/>
            <a:ext cx="17199366" cy="96654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0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1024</Words>
  <Application>Microsoft Office PowerPoint</Application>
  <PresentationFormat>Custom</PresentationFormat>
  <Paragraphs>188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Arial Black</vt:lpstr>
      <vt:lpstr>Lucida Sans Unicode</vt:lpstr>
      <vt:lpstr>Tahoma</vt:lpstr>
      <vt:lpstr>Times New Roman</vt:lpstr>
      <vt:lpstr>Office Theme</vt:lpstr>
      <vt:lpstr>PowerPoint Presentation</vt:lpstr>
      <vt:lpstr>Stored procedures are often undocumented, leaving teams with no reference for understanding complex database logic.</vt:lpstr>
      <vt:lpstr>PROJECT OBJECTIVE</vt:lpstr>
      <vt:lpstr>THE NEED</vt:lpstr>
      <vt:lpstr>PowerPoint Presentation</vt:lpstr>
      <vt:lpstr>Working</vt:lpstr>
      <vt:lpstr>SYSTEM ARCHITECTURE</vt:lpstr>
      <vt:lpstr>MAIN.PY (CLI APPLICATION)</vt:lpstr>
      <vt:lpstr>               CODE-WALKING RAG</vt:lpstr>
      <vt:lpstr>APP.PY (STREAMLIT WEB APPLICATION)</vt:lpstr>
      <vt:lpstr>SAMPLE INPUT &amp; OUTPUT</vt:lpstr>
      <vt:lpstr>TECHNOLOGIES USED</vt:lpstr>
      <vt:lpstr>ADVANTAGES &amp; LIMITATIONS</vt:lpstr>
      <vt:lpstr>CONCLUSION</vt:lpstr>
      <vt:lpstr>Presented to Infinite Computer Solutions</vt:lpstr>
      <vt:lpstr>                          ANY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Stored procedures are often undocumented, leaving teams with no reference for understanding complex database logic.</dc:title>
  <dc:creator>Bheemuni Mahesh</dc:creator>
  <cp:keywords>DAHMwUoC-NM,BAGf4oFgFW0,0</cp:keywords>
  <cp:lastModifiedBy>Mahesh Bheemuni</cp:lastModifiedBy>
  <cp:revision>3</cp:revision>
  <dcterms:created xsi:type="dcterms:W3CDTF">2026-06-16T19:23:42Z</dcterms:created>
  <dcterms:modified xsi:type="dcterms:W3CDTF">2026-06-17T06:40:26Z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2026-06-16T00:00:00Z</vt:filetime>
  </property>
  <property fmtid="{D5CDD505-2E9C-101B-9397-08002B2CF9AE}" pid="4" name="Creator">
    <vt:lpwstr>Canva</vt:lpwstr>
  </property>
  <property fmtid="{D5CDD505-2E9C-101B-9397-08002B2CF9AE}" pid="5" name="LastSaved">
    <vt:filetime>2026-06-16T00:00:00Z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